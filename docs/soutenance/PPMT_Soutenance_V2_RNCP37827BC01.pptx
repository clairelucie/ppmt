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PPMT, un pipeline de données sur les offres d'emploi en Île-de-France, dans le cadre du bloc RNCP37827BC01 : collecte, stockage et mise à disposition des données. Environ 20 minutes, puis vos questions. Démo prévue : l'API en direct (Swagger) et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parcours : 12 ans en RH, dont beaucoup de projets SIRH. Je connais le recrutement de l'intérieur ; ce projet me permet de l'aborder par la donnée. Le projet a été mené en binôme avec Bernard, chacun avec son rôle. Pour la V2, j'ai refondu la collecte, le nettoyage, le stockage, l'API, les tests et le ML ; Bernard a mis en place les logs et l'idempotence du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embauche sur deux est jugée difficile par les employeurs (BMO 2025 — vérifier le chiffre exact avant la soutenance : 50,1 % dans nos supports). Les offres sont dispersées entre sites, chacun avec ses catégories. PPMT les rassemble, les harmonise sur le référentiel ROME et les met à disposition. Les deux autres chiffres sont ceux de notre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V1 était centrée sur la visualisation. En relisant le référentiel, j'ai vu que le bloc évalue la chaîne complète jusqu'à l'API. J'ai aussi découvert que notre R² de 0,995 venait d'une fuite de données. Nous avons donc tout restructuré à deux : c'est cette V2 que je présente.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compétence = un module Python, testable et exécutable seul. run_pipeline.py enchaîne C1 à C4 ; l'API lit la base en lecture seule. Tout se relance en une commande, en 5 secondes hors collecte.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sources de deux types : deux API et deux fichiers de référence. France Travail limite à 150 offres par appel et refuse une plage qui commence après 3000 : je boucle donc département par département — c'est pour cela qu'on a environ 3 000 offres France Travail par département. En cas d'erreur réseau ou de quota (429), le script réessaie. Une source en échec n'arrête pas les autres ; le code retour permet de le détecter dans cron. Le fichier GeoJSON contient les contours des 8 départements (données IGN/Insee) : store.py en calcule le centre et la superficie pour la table departements, l'API s'en sert pour la densité d'offres, et le dashboard pour la carte. Le fichier des communes sert à retrouver le département des offres Adzuna. Démo possible : python src/collect.py --source geojson, lancé deux fois pour montrer l'idempotence.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problème, j'ai comparé la méthode de la V1 et celle de la V2 et gardé la combinaison qui donne le plus de données fiables. Salaires : on complète par la médiane (V1), mais par métier et par département (V2), du groupe le plus précis au plus large ; une colonne indique si le salaire est affiché ou calculé, et les indicateurs n'utilisent que les salaires affichés, pour éviter l'enrichissement circulaire que la V1 craignait. Codes ROME : l'intitulé est plus fiable que la catégorie Adzuna, qui classait « Comptable » en restauration. Départements : le référentiel officiel des communes remplace les listes écrites à la main, qui se trompaient (Viry-Châtillon classé dans le 92). Le dossier détaille les 10 problèmes.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indicateurs sont calculés directement dans la base, en SQL : comptages par source, nombre d'entreprises distinctes, part de CDI et l'indice ; le salaire médian (sur les seuls salaires affichés) est calculé en Python car SQLite n'a pas de fonction médiane, grâce à une fonction fenêtre AVG() OVER (). 100 = métier moyen. J'insiste : c'est la pression côté employeurs ; pour un vrai ratio de tension il faudrait le nombre de demandeurs d'emploi par métier, c'est ma première perspective. Seuils : 50 / 100 /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Santé et aide à la personne dominent. Les 185 métiers « très en tension » concentrent 19 858 offres, soit 70 % du total (collecte de mai 2026). La carte est dessinée avec les contours du fichier GeoJSON collecté en C1 ; Paris et les Hauts-de-Seine concentrent le plus d'offres. Le top 10 est cohérent avec ce que l'on sait du marché francilien : santé, aide à domicile, comptabilité, enseignement. Nuance à dire : M1805 (développeur) vient surtout d'Adzuna ; ses codes ROME sont désormais affectés par l'intitulé quand c'est possible, sinon par la catégorie, moins précise. C'est une limite que je cite en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en 3e forme normale : deux référentiels (départements, métiers ROME) — la table departements reçoit le centre géographique et la superficie calculés depuis le GeoJSON —, une table de faits (offres) et une table d'agrégats recalculée à chaque exécution. salaire_impute et salaire_source disent si le salaire est affiché ou calculé, rome_source d'où vient le code ROME. hash_offre UNIQUE empêche les doublons même si on relance le pipeline. Les CHECK rejettent un salaire aberrant ou un contrat inconnu dès l'insertion. Pourquoi pas NoSQL : données tabulaires à schéma fixe, interrogées par filtres et agrégations. PostgreSQL si on passe à plusieurs régions en parallèle. RGPD : aucune donnée de candidat, coordonnées de recruteurs masquées, conservation 12 mois, registre dans docs/rgpd.md.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endpoints en lecture seule. Tout est protégé par une clé API dans l'en-tête X-API-Key, sauf /health. Les paramètres sont validés par Pydantic : un département hors Île-de-France ou un code ROME mal formé renvoie 422. Les requêtes SQL sont paramétrées, pas de concaténation : pas d'injection possible. La connexion SQLite est ouverte en mode lecture seule. L'image Docker n'embarque que FastAPI, Uvicorn et Pydantic.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ici. Terminal : uvicorn api.main:app --reload, puis ouvrir localhost:8000/docs. Cliquer Authorize, saisir la clé ppmt-demo-2026, puis Try it out sur /metiers/{code_rome} avec K1304 (aide ménagère). Montrer aussi un appel sans clé (403). Si la démo échoue : les captures sont dans le dossier, figures 6 et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compétence est couverte par des tests. Les API externes sont simulées : on teste la pagination et la reprise sur erreur sans réseau ni quota. Côté base, on vérifie l'intégrité référentielle, l'absence de doublon et qu'aucun e-mail ou téléphone n'est stocké en clair. Démo possible : pytest tests/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ML ne fait pas partie du bloc, mais je veux être transparente. En V1 on annonçait R² = 0,995 : l'indice est calculé à partir du nombre d'offres, et on donnait ce nombre au modèle, qui retrouvait la formule. En V2, je classe les métiers « en tension » à partir du seul profil des offres, sans aucune variable de volume. Trois modèles comparés en validation croisée : régression logistique 0,58, Random Forest 0,82, XGBoost 0,84 (F1 0,77), retenu. Un classement au hasard donnerait 0,5. C'est un signal réel, qui justifie d'aller chercher les données de demandeurs d'emploi pour un vrai ratio de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une chaîne complète et reproductible, de la collecte à l'API, testée et conforme RGPD. Limites assumées : l'indice ne voit que la demande des employeurs, la correspondance Adzuna est grossière, et nous n'avons qu'une collecte. D'où les perspectives. Merci, je suis prête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FD3C8"/>
                </a:solidFill>
                <a:latin typeface="IBM Plex Sans" pitchFamily="34" charset="0"/>
                <a:ea typeface="IBM Plex Sans" pitchFamily="34" charset="-122"/>
                <a:cs typeface="IBM Plex Sans" pitchFamily="34" charset="-120"/>
              </a:rPr>
              <a:t>DOSSIER DE SOUTENANCE · RNCP37827BC01</a:t>
            </a:r>
            <a:endParaRPr lang="en-US" sz="1400" dirty="0"/>
          </a:p>
        </p:txBody>
      </p:sp>
      <p:sp>
        <p:nvSpPr>
          <p:cNvPr id="3" name="Text 1"/>
          <p:cNvSpPr/>
          <p:nvPr/>
        </p:nvSpPr>
        <p:spPr>
          <a:xfrm>
            <a:off x="812800" y="12141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8F7"/>
                </a:solidFill>
                <a:latin typeface="Space Grotesk" pitchFamily="34" charset="0"/>
                <a:ea typeface="Space Grotesk" pitchFamily="34" charset="-122"/>
                <a:cs typeface="Space Grotesk" pitchFamily="34" charset="-120"/>
              </a:rPr>
              <a:t>PPMT</a:t>
            </a:r>
            <a:endParaRPr lang="en-US" sz="8000" dirty="0"/>
          </a:p>
        </p:txBody>
      </p:sp>
      <p:sp>
        <p:nvSpPr>
          <p:cNvPr id="4" name="Text 2"/>
          <p:cNvSpPr/>
          <p:nvPr/>
        </p:nvSpPr>
        <p:spPr>
          <a:xfrm>
            <a:off x="812800" y="2382520"/>
            <a:ext cx="8502650" cy="843280"/>
          </a:xfrm>
          <a:prstGeom prst="rect">
            <a:avLst/>
          </a:prstGeom>
          <a:noFill/>
          <a:ln/>
        </p:spPr>
        <p:txBody>
          <a:bodyPr wrap="square" lIns="0" tIns="0" rIns="0" bIns="0" rtlCol="0" anchor="t">
            <a:normAutofit/>
          </a:bodyPr>
          <a:lstStyle/>
          <a:p>
            <a:pPr algn="l" indent="0" marL="0">
              <a:lnSpc>
                <a:spcPts val="3220"/>
              </a:lnSpc>
              <a:buNone/>
            </a:pPr>
            <a:r>
              <a:rPr lang="en-US" sz="2800" dirty="0">
                <a:solidFill>
                  <a:srgbClr val="F6F8F7"/>
                </a:solidFill>
                <a:latin typeface="Space Grotesk" pitchFamily="34" charset="0"/>
                <a:ea typeface="Space Grotesk" pitchFamily="34" charset="-122"/>
                <a:cs typeface="Space Grotesk" pitchFamily="34" charset="-120"/>
              </a:rPr>
              <a:t>Plateforme Prédictive des Métiers en Tension — Île-de-France</a:t>
            </a:r>
            <a:endParaRPr lang="en-US" sz="2800" dirty="0"/>
          </a:p>
        </p:txBody>
      </p:sp>
      <p:sp>
        <p:nvSpPr>
          <p:cNvPr id="5" name="Text 3"/>
          <p:cNvSpPr/>
          <p:nvPr/>
        </p:nvSpPr>
        <p:spPr>
          <a:xfrm>
            <a:off x="812800" y="3352800"/>
            <a:ext cx="85026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8D5"/>
                </a:solidFill>
                <a:latin typeface="IBM Plex Sans" pitchFamily="34" charset="0"/>
                <a:ea typeface="IBM Plex Sans" pitchFamily="34" charset="-122"/>
                <a:cs typeface="IBM Plex Sans" pitchFamily="34" charset="-120"/>
              </a:rPr>
              <a:t>Collecte, stockage et mise à disposition des offres d’emploi France Travail et Adzuna</a:t>
            </a:r>
            <a:endParaRPr lang="en-US" sz="1600" dirty="0"/>
          </a:p>
        </p:txBody>
      </p:sp>
      <p:sp>
        <p:nvSpPr>
          <p:cNvPr id="6" name="Text 4"/>
          <p:cNvSpPr/>
          <p:nvPr/>
        </p:nvSpPr>
        <p:spPr>
          <a:xfrm>
            <a:off x="812800" y="5425440"/>
            <a:ext cx="408871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8F7"/>
                </a:solidFill>
                <a:latin typeface="IBM Plex Sans" pitchFamily="34" charset="0"/>
                <a:ea typeface="IBM Plex Sans" pitchFamily="34" charset="-122"/>
                <a:cs typeface="IBM Plex Sans" pitchFamily="34" charset="-120"/>
              </a:rPr>
              <a:t>Claire Lucie DIOUF</a:t>
            </a:r>
            <a:endParaRPr lang="en-US" sz="1800" dirty="0"/>
          </a:p>
        </p:txBody>
      </p:sp>
      <p:sp>
        <p:nvSpPr>
          <p:cNvPr id="7" name="Text 5"/>
          <p:cNvSpPr/>
          <p:nvPr/>
        </p:nvSpPr>
        <p:spPr>
          <a:xfrm>
            <a:off x="812800" y="5796280"/>
            <a:ext cx="40887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8D5"/>
                </a:solidFill>
                <a:latin typeface="IBM Plex Sans" pitchFamily="34" charset="0"/>
                <a:ea typeface="IBM Plex Sans" pitchFamily="34" charset="-122"/>
                <a:cs typeface="IBM Plex Sans" pitchFamily="34" charset="-120"/>
              </a:rPr>
              <a:t>Développeur en Intelligence Artificielle — Artefact</a:t>
            </a:r>
            <a:endParaRPr lang="en-US" sz="1400" dirty="0"/>
          </a:p>
        </p:txBody>
      </p:sp>
      <p:sp>
        <p:nvSpPr>
          <p:cNvPr id="8" name="Text 6"/>
          <p:cNvSpPr/>
          <p:nvPr/>
        </p:nvSpPr>
        <p:spPr>
          <a:xfrm>
            <a:off x="10039827" y="5796280"/>
            <a:ext cx="139017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A06A"/>
                </a:solidFill>
                <a:latin typeface="IBM Plex Sans" pitchFamily="34" charset="0"/>
                <a:ea typeface="IBM Plex Sans" pitchFamily="34" charset="-122"/>
                <a:cs typeface="IBM Plex Sans" pitchFamily="34" charset="-120"/>
              </a:rPr>
              <a:t>15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Qui suis-je ?</a:t>
            </a:r>
            <a:endParaRPr lang="en-US" sz="3200" dirty="0"/>
          </a:p>
        </p:txBody>
      </p:sp>
      <p:sp>
        <p:nvSpPr>
          <p:cNvPr id="3" name="Shape 1"/>
          <p:cNvSpPr/>
          <p:nvPr/>
        </p:nvSpPr>
        <p:spPr>
          <a:xfrm>
            <a:off x="815975" y="1486535"/>
            <a:ext cx="5124450" cy="4352290"/>
          </a:xfrm>
          <a:prstGeom prst="roundRect">
            <a:avLst>
              <a:gd name="adj" fmla="val 2261"/>
            </a:avLst>
          </a:prstGeom>
          <a:solidFill>
            <a:srgbClr val="FDFEFE"/>
          </a:solidFill>
          <a:ln w="6350">
            <a:solidFill>
              <a:srgbClr val="DCE4E6"/>
            </a:solidFill>
            <a:prstDash val="solid"/>
          </a:ln>
        </p:spPr>
      </p:sp>
      <p:sp>
        <p:nvSpPr>
          <p:cNvPr id="4" name="Text 2"/>
          <p:cNvSpPr/>
          <p:nvPr/>
        </p:nvSpPr>
        <p:spPr>
          <a:xfrm>
            <a:off x="1122680" y="1793240"/>
            <a:ext cx="464637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3B4A"/>
                </a:solidFill>
                <a:latin typeface="Space Grotesk" pitchFamily="34" charset="0"/>
                <a:ea typeface="Space Grotesk" pitchFamily="34" charset="-122"/>
                <a:cs typeface="Space Grotesk" pitchFamily="34" charset="-120"/>
              </a:rPr>
              <a:t>Claire Lucie DIOUF</a:t>
            </a:r>
            <a:endParaRPr lang="en-US" sz="2200" dirty="0"/>
          </a:p>
        </p:txBody>
      </p:sp>
      <p:sp>
        <p:nvSpPr>
          <p:cNvPr id="5" name="Text 3"/>
          <p:cNvSpPr/>
          <p:nvPr/>
        </p:nvSpPr>
        <p:spPr>
          <a:xfrm>
            <a:off x="1122680" y="2336800"/>
            <a:ext cx="46463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8577"/>
                </a:solidFill>
                <a:latin typeface="IBM Plex Sans" pitchFamily="34" charset="0"/>
                <a:ea typeface="IBM Plex Sans" pitchFamily="34" charset="-122"/>
                <a:cs typeface="IBM Plex Sans" pitchFamily="34" charset="-120"/>
              </a:rPr>
              <a:t>RH × Data</a:t>
            </a:r>
            <a:endParaRPr lang="en-US" sz="1500" dirty="0"/>
          </a:p>
        </p:txBody>
      </p:sp>
      <p:sp>
        <p:nvSpPr>
          <p:cNvPr id="6" name="Text 4"/>
          <p:cNvSpPr/>
          <p:nvPr/>
        </p:nvSpPr>
        <p:spPr>
          <a:xfrm>
            <a:off x="1122680" y="2755900"/>
            <a:ext cx="4646371" cy="1454150"/>
          </a:xfrm>
          <a:prstGeom prst="rect">
            <a:avLst/>
          </a:prstGeom>
          <a:noFill/>
          <a:ln/>
        </p:spPr>
        <p:txBody>
          <a:bodyPr wrap="square" lIns="0" tIns="0" rIns="0" bIns="0" rtlCol="0" anchor="t">
            <a:normAutofit/>
          </a:bodyPr>
          <a:lstStyle/>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12 ans en ressources humaines : RH généraliste, SIRH / AMOA, GEPP et formation</a:t>
            </a:r>
            <a:endParaRPr lang="en-US" sz="1500" dirty="0"/>
          </a:p>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Executive Master Paris-Dauphine</a:t>
            </a:r>
            <a:endParaRPr lang="en-US" sz="1500" dirty="0"/>
          </a:p>
          <a:p>
            <a:pPr algn="l" marL="228600" indent="-182880">
              <a:lnSpc>
                <a:spcPts val="2250"/>
              </a:lnSpc>
              <a:buSzPct val="100000"/>
              <a:buChar char="•"/>
            </a:pPr>
            <a:r>
              <a:rPr lang="en-US" sz="1500" dirty="0">
                <a:solidFill>
                  <a:srgbClr val="33454D"/>
                </a:solidFill>
                <a:latin typeface="IBM Plex Sans" pitchFamily="34" charset="0"/>
                <a:ea typeface="IBM Plex Sans" pitchFamily="34" charset="-122"/>
                <a:cs typeface="IBM Plex Sans" pitchFamily="34" charset="-120"/>
              </a:rPr>
              <a:t>Consultante RH indépendante, cofondatrice de SevenSkills</a:t>
            </a:r>
            <a:endParaRPr lang="en-US" sz="1500" dirty="0"/>
          </a:p>
        </p:txBody>
      </p:sp>
      <p:sp>
        <p:nvSpPr>
          <p:cNvPr id="7" name="Text 5"/>
          <p:cNvSpPr/>
          <p:nvPr/>
        </p:nvSpPr>
        <p:spPr>
          <a:xfrm>
            <a:off x="1122680" y="4337050"/>
            <a:ext cx="4646371" cy="52324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4A5A62"/>
                </a:solidFill>
                <a:latin typeface="IBM Plex Sans" pitchFamily="34" charset="0"/>
                <a:ea typeface="IBM Plex Sans" pitchFamily="34" charset="-122"/>
                <a:cs typeface="IBM Plex Sans" pitchFamily="34" charset="-120"/>
              </a:rPr>
              <a:t>Le marché du travail, je le vois tous les jours côté recrutement : PPMT le regarde côté données.</a:t>
            </a:r>
            <a:endParaRPr lang="en-US" sz="1400" dirty="0"/>
          </a:p>
        </p:txBody>
      </p:sp>
      <p:sp>
        <p:nvSpPr>
          <p:cNvPr id="8" name="Shape 6"/>
          <p:cNvSpPr/>
          <p:nvPr/>
        </p:nvSpPr>
        <p:spPr>
          <a:xfrm>
            <a:off x="6251575" y="1486535"/>
            <a:ext cx="5124450" cy="4352290"/>
          </a:xfrm>
          <a:prstGeom prst="roundRect">
            <a:avLst>
              <a:gd name="adj" fmla="val 2261"/>
            </a:avLst>
          </a:prstGeom>
          <a:solidFill>
            <a:srgbClr val="FDFEFE"/>
          </a:solidFill>
          <a:ln w="6350">
            <a:solidFill>
              <a:srgbClr val="DCE4E6"/>
            </a:solidFill>
            <a:prstDash val="solid"/>
          </a:ln>
        </p:spPr>
      </p:sp>
      <p:sp>
        <p:nvSpPr>
          <p:cNvPr id="9" name="Text 7"/>
          <p:cNvSpPr/>
          <p:nvPr/>
        </p:nvSpPr>
        <p:spPr>
          <a:xfrm>
            <a:off x="6558280" y="1793240"/>
            <a:ext cx="4646371"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3B4A"/>
                </a:solidFill>
                <a:latin typeface="Space Grotesk" pitchFamily="34" charset="0"/>
                <a:ea typeface="Space Grotesk" pitchFamily="34" charset="-122"/>
                <a:cs typeface="Space Grotesk" pitchFamily="34" charset="-120"/>
              </a:rPr>
              <a:t>Mon rôle dans PPMT</a:t>
            </a:r>
            <a:endParaRPr lang="en-US" sz="2200" dirty="0"/>
          </a:p>
        </p:txBody>
      </p:sp>
      <p:sp>
        <p:nvSpPr>
          <p:cNvPr id="10" name="Text 8"/>
          <p:cNvSpPr/>
          <p:nvPr/>
        </p:nvSpPr>
        <p:spPr>
          <a:xfrm>
            <a:off x="6558280" y="2336800"/>
            <a:ext cx="464637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7F87"/>
                </a:solidFill>
                <a:latin typeface="IBM Plex Sans" pitchFamily="34" charset="0"/>
                <a:ea typeface="IBM Plex Sans" pitchFamily="34" charset="-122"/>
                <a:cs typeface="IBM Plex Sans" pitchFamily="34" charset="-120"/>
              </a:rPr>
              <a:t>V1 — mai 2026, en binôme avec Bernard GBOHOUGNON</a:t>
            </a:r>
            <a:endParaRPr lang="en-US" sz="1400" dirty="0"/>
          </a:p>
        </p:txBody>
      </p:sp>
      <p:sp>
        <p:nvSpPr>
          <p:cNvPr id="11" name="Text 9"/>
          <p:cNvSpPr/>
          <p:nvPr/>
        </p:nvSpPr>
        <p:spPr>
          <a:xfrm>
            <a:off x="6558280" y="2987040"/>
            <a:ext cx="464637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54D"/>
                </a:solidFill>
                <a:latin typeface="IBM Plex Sans" pitchFamily="34" charset="0"/>
                <a:ea typeface="IBM Plex Sans" pitchFamily="34" charset="-122"/>
                <a:cs typeface="IBM Plex Sans" pitchFamily="34" charset="-120"/>
              </a:rPr>
              <a:t>Collecte France Travail (OAuth2), dashboard Streamlit, modèle ML</a:t>
            </a:r>
            <a:endParaRPr lang="en-US" sz="1500" dirty="0"/>
          </a:p>
        </p:txBody>
      </p:sp>
      <p:sp>
        <p:nvSpPr>
          <p:cNvPr id="12" name="Text 10"/>
          <p:cNvSpPr/>
          <p:nvPr/>
        </p:nvSpPr>
        <p:spPr>
          <a:xfrm>
            <a:off x="6558280" y="3672840"/>
            <a:ext cx="46463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65F1A"/>
                </a:solidFill>
                <a:latin typeface="IBM Plex Sans" pitchFamily="34" charset="0"/>
                <a:ea typeface="IBM Plex Sans" pitchFamily="34" charset="-122"/>
                <a:cs typeface="IBM Plex Sans" pitchFamily="34" charset="-120"/>
              </a:rPr>
              <a:t>V2 — octobre 2026, en binôme</a:t>
            </a:r>
            <a:endParaRPr lang="en-US" sz="1400" dirty="0"/>
          </a:p>
        </p:txBody>
      </p:sp>
      <p:sp>
        <p:nvSpPr>
          <p:cNvPr id="13" name="Text 11"/>
          <p:cNvSpPr/>
          <p:nvPr/>
        </p:nvSpPr>
        <p:spPr>
          <a:xfrm>
            <a:off x="6558280" y="4074160"/>
            <a:ext cx="464637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54D"/>
                </a:solidFill>
                <a:latin typeface="IBM Plex Sans" pitchFamily="34" charset="0"/>
                <a:ea typeface="IBM Plex Sans" pitchFamily="34" charset="-122"/>
                <a:cs typeface="IBM Plex Sans" pitchFamily="34" charset="-120"/>
              </a:rPr>
              <a:t>Refonte collecte / préparation / stockage, API FastAPI, 57 tests, RGPD, correction du ML</a:t>
            </a:r>
            <a:endParaRPr lang="en-US" sz="1500" dirty="0"/>
          </a:p>
        </p:txBody>
      </p:sp>
      <p:sp>
        <p:nvSpPr>
          <p:cNvPr id="14" name="Text 12"/>
          <p:cNvSpPr/>
          <p:nvPr/>
        </p:nvSpPr>
        <p:spPr>
          <a:xfrm>
            <a:off x="6558280" y="4759960"/>
            <a:ext cx="46463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Bernard : collecte Adzuna et Git (V1) · logs et idempotence du pipeline (V2)</a:t>
            </a:r>
            <a:endParaRPr lang="en-US" sz="1200" dirty="0"/>
          </a:p>
        </p:txBody>
      </p:sp>
      <p:sp>
        <p:nvSpPr>
          <p:cNvPr id="15" name="Text 13"/>
          <p:cNvSpPr/>
          <p:nvPr/>
        </p:nvSpPr>
        <p:spPr>
          <a:xfrm>
            <a:off x="812800" y="62890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6" name="Text 14"/>
          <p:cNvSpPr/>
          <p:nvPr/>
        </p:nvSpPr>
        <p:spPr>
          <a:xfrm>
            <a:off x="10058400" y="62890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Contexte et problématique</a:t>
            </a:r>
            <a:endParaRPr lang="en-US" sz="3200" dirty="0"/>
          </a:p>
        </p:txBody>
      </p:sp>
      <p:sp>
        <p:nvSpPr>
          <p:cNvPr id="3" name="Shape 1"/>
          <p:cNvSpPr/>
          <p:nvPr/>
        </p:nvSpPr>
        <p:spPr>
          <a:xfrm>
            <a:off x="815975" y="1461136"/>
            <a:ext cx="3380264" cy="1817370"/>
          </a:xfrm>
          <a:prstGeom prst="roundRect">
            <a:avLst>
              <a:gd name="adj" fmla="val 5416"/>
            </a:avLst>
          </a:prstGeom>
          <a:solidFill>
            <a:srgbClr val="FDFEFE"/>
          </a:solidFill>
          <a:ln w="6350">
            <a:solidFill>
              <a:srgbClr val="DCE4E6"/>
            </a:solidFill>
            <a:prstDash val="solid"/>
          </a:ln>
        </p:spPr>
      </p:sp>
      <p:sp>
        <p:nvSpPr>
          <p:cNvPr id="4" name="Text 2"/>
          <p:cNvSpPr/>
          <p:nvPr/>
        </p:nvSpPr>
        <p:spPr>
          <a:xfrm>
            <a:off x="1046480" y="1691641"/>
            <a:ext cx="3006831"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65F1A"/>
                </a:solidFill>
                <a:latin typeface="Space Grotesk" pitchFamily="34" charset="0"/>
                <a:ea typeface="Space Grotesk" pitchFamily="34" charset="-122"/>
                <a:cs typeface="Space Grotesk" pitchFamily="34" charset="-120"/>
              </a:rPr>
              <a:t>50 %</a:t>
            </a:r>
            <a:endParaRPr lang="en-US" sz="4400" dirty="0"/>
          </a:p>
        </p:txBody>
      </p:sp>
      <p:sp>
        <p:nvSpPr>
          <p:cNvPr id="5" name="Text 3"/>
          <p:cNvSpPr/>
          <p:nvPr/>
        </p:nvSpPr>
        <p:spPr>
          <a:xfrm>
            <a:off x="1046480" y="2301241"/>
            <a:ext cx="300683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des projets de recrutement jugés difficiles (enquête BMO 2025, France Travail)</a:t>
            </a:r>
            <a:endParaRPr lang="en-US" sz="1400" dirty="0"/>
          </a:p>
        </p:txBody>
      </p:sp>
      <p:sp>
        <p:nvSpPr>
          <p:cNvPr id="6" name="Shape 4"/>
          <p:cNvSpPr/>
          <p:nvPr/>
        </p:nvSpPr>
        <p:spPr>
          <a:xfrm>
            <a:off x="4405789" y="1461136"/>
            <a:ext cx="3380343" cy="1817370"/>
          </a:xfrm>
          <a:prstGeom prst="roundRect">
            <a:avLst>
              <a:gd name="adj" fmla="val 5416"/>
            </a:avLst>
          </a:prstGeom>
          <a:solidFill>
            <a:srgbClr val="FDFEFE"/>
          </a:solidFill>
          <a:ln w="6350">
            <a:solidFill>
              <a:srgbClr val="DCE4E6"/>
            </a:solidFill>
            <a:prstDash val="solid"/>
          </a:ln>
        </p:spPr>
      </p:sp>
      <p:sp>
        <p:nvSpPr>
          <p:cNvPr id="7" name="Text 5"/>
          <p:cNvSpPr/>
          <p:nvPr/>
        </p:nvSpPr>
        <p:spPr>
          <a:xfrm>
            <a:off x="4636294" y="1691641"/>
            <a:ext cx="300691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E3B4A"/>
                </a:solidFill>
                <a:latin typeface="Space Grotesk" pitchFamily="34" charset="0"/>
                <a:ea typeface="Space Grotesk" pitchFamily="34" charset="-122"/>
                <a:cs typeface="Space Grotesk" pitchFamily="34" charset="-120"/>
              </a:rPr>
              <a:t>28 219</a:t>
            </a:r>
            <a:endParaRPr lang="en-US" sz="4400" dirty="0"/>
          </a:p>
        </p:txBody>
      </p:sp>
      <p:sp>
        <p:nvSpPr>
          <p:cNvPr id="8" name="Text 6"/>
          <p:cNvSpPr/>
          <p:nvPr/>
        </p:nvSpPr>
        <p:spPr>
          <a:xfrm>
            <a:off x="4636294" y="2301241"/>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offres franciliennes collectées, 2 sources</a:t>
            </a:r>
            <a:endParaRPr lang="en-US" sz="1400" dirty="0"/>
          </a:p>
        </p:txBody>
      </p:sp>
      <p:sp>
        <p:nvSpPr>
          <p:cNvPr id="9" name="Shape 7"/>
          <p:cNvSpPr/>
          <p:nvPr/>
        </p:nvSpPr>
        <p:spPr>
          <a:xfrm>
            <a:off x="7995682" y="1461136"/>
            <a:ext cx="3380343" cy="1817370"/>
          </a:xfrm>
          <a:prstGeom prst="roundRect">
            <a:avLst>
              <a:gd name="adj" fmla="val 5416"/>
            </a:avLst>
          </a:prstGeom>
          <a:solidFill>
            <a:srgbClr val="FDFEFE"/>
          </a:solidFill>
          <a:ln w="6350">
            <a:solidFill>
              <a:srgbClr val="DCE4E6"/>
            </a:solidFill>
            <a:prstDash val="solid"/>
          </a:ln>
        </p:spPr>
      </p:sp>
      <p:sp>
        <p:nvSpPr>
          <p:cNvPr id="10" name="Text 8"/>
          <p:cNvSpPr/>
          <p:nvPr/>
        </p:nvSpPr>
        <p:spPr>
          <a:xfrm>
            <a:off x="8226187" y="1691641"/>
            <a:ext cx="300691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E3B4A"/>
                </a:solidFill>
                <a:latin typeface="Space Grotesk" pitchFamily="34" charset="0"/>
                <a:ea typeface="Space Grotesk" pitchFamily="34" charset="-122"/>
                <a:cs typeface="Space Grotesk" pitchFamily="34" charset="-120"/>
              </a:rPr>
              <a:t>185</a:t>
            </a:r>
            <a:endParaRPr lang="en-US" sz="4400" dirty="0"/>
          </a:p>
        </p:txBody>
      </p:sp>
      <p:sp>
        <p:nvSpPr>
          <p:cNvPr id="11" name="Text 9"/>
          <p:cNvSpPr/>
          <p:nvPr/>
        </p:nvSpPr>
        <p:spPr>
          <a:xfrm>
            <a:off x="8226187" y="2301241"/>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métiers ROME « très en tension » sur 1 100</a:t>
            </a:r>
            <a:endParaRPr lang="en-US" sz="1400" dirty="0"/>
          </a:p>
        </p:txBody>
      </p:sp>
      <p:sp>
        <p:nvSpPr>
          <p:cNvPr id="12" name="Shape 10"/>
          <p:cNvSpPr/>
          <p:nvPr/>
        </p:nvSpPr>
        <p:spPr>
          <a:xfrm>
            <a:off x="812800" y="3561080"/>
            <a:ext cx="10566400" cy="1423670"/>
          </a:xfrm>
          <a:prstGeom prst="roundRect">
            <a:avLst>
              <a:gd name="adj" fmla="val 7136"/>
            </a:avLst>
          </a:prstGeom>
          <a:solidFill>
            <a:srgbClr val="E4EFEE"/>
          </a:solidFill>
          <a:ln/>
        </p:spPr>
      </p:sp>
      <p:sp>
        <p:nvSpPr>
          <p:cNvPr id="13" name="Text 11"/>
          <p:cNvSpPr/>
          <p:nvPr/>
        </p:nvSpPr>
        <p:spPr>
          <a:xfrm>
            <a:off x="1117600" y="3815080"/>
            <a:ext cx="10255504"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8577"/>
                </a:solidFill>
                <a:latin typeface="IBM Plex Sans" pitchFamily="34" charset="0"/>
                <a:ea typeface="IBM Plex Sans" pitchFamily="34" charset="-122"/>
                <a:cs typeface="IBM Plex Sans" pitchFamily="34" charset="-120"/>
              </a:rPr>
              <a:t>PROBLÉMATIQUE</a:t>
            </a:r>
            <a:endParaRPr lang="en-US" sz="1300" dirty="0"/>
          </a:p>
        </p:txBody>
      </p:sp>
      <p:sp>
        <p:nvSpPr>
          <p:cNvPr id="14" name="Text 12"/>
          <p:cNvSpPr/>
          <p:nvPr/>
        </p:nvSpPr>
        <p:spPr>
          <a:xfrm>
            <a:off x="1117600" y="4147820"/>
            <a:ext cx="10255504"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E3B4A"/>
                </a:solidFill>
                <a:latin typeface="IBM Plex Sans" pitchFamily="34" charset="0"/>
                <a:ea typeface="IBM Plex Sans" pitchFamily="34" charset="-122"/>
                <a:cs typeface="IBM Plex Sans" pitchFamily="34" charset="-120"/>
              </a:rPr>
              <a:t>Comment collecter, fiabiliser et mettre à disposition automatiquement les offres d’emploi de plusieurs sources pour identifier les métiers qui recrutent le plus en Île-de-France ?</a:t>
            </a:r>
            <a:endParaRPr lang="en-US" sz="1700" dirty="0"/>
          </a:p>
        </p:txBody>
      </p:sp>
      <p:sp>
        <p:nvSpPr>
          <p:cNvPr id="15" name="Text 13"/>
          <p:cNvSpPr/>
          <p:nvPr/>
        </p:nvSpPr>
        <p:spPr>
          <a:xfrm>
            <a:off x="812800" y="52641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62"/>
                </a:solidFill>
                <a:latin typeface="IBM Plex Sans" pitchFamily="34" charset="0"/>
                <a:ea typeface="IBM Plex Sans" pitchFamily="34" charset="-122"/>
                <a:cs typeface="IBM Plex Sans" pitchFamily="34" charset="-120"/>
              </a:rPr>
              <a:t>Pour qui :</a:t>
            </a:r>
            <a:r>
              <a:rPr lang="en-US" sz="1400" dirty="0">
                <a:solidFill>
                  <a:srgbClr val="4A5A62"/>
                </a:solidFill>
                <a:latin typeface="IBM Plex Sans" pitchFamily="34" charset="0"/>
                <a:ea typeface="IBM Plex Sans" pitchFamily="34" charset="-122"/>
                <a:cs typeface="IBM Plex Sans" pitchFamily="34" charset="-120"/>
              </a:rPr>
              <a:t> cabinets de recrutement · candidats et conseillers emploi · organismes de formation · développeurs via l’API</a:t>
            </a:r>
            <a:endParaRPr lang="en-US" sz="1400" dirty="0"/>
          </a:p>
        </p:txBody>
      </p:sp>
      <p:sp>
        <p:nvSpPr>
          <p:cNvPr id="16" name="Text 14"/>
          <p:cNvSpPr/>
          <p:nvPr/>
        </p:nvSpPr>
        <p:spPr>
          <a:xfrm>
            <a:off x="812800" y="62890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7" name="Text 15"/>
          <p:cNvSpPr/>
          <p:nvPr/>
        </p:nvSpPr>
        <p:spPr>
          <a:xfrm>
            <a:off x="10058400" y="62890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Cheminement : de la V1 à la V2</a:t>
            </a:r>
            <a:endParaRPr lang="en-US" sz="3200" dirty="0"/>
          </a:p>
        </p:txBody>
      </p:sp>
      <p:sp>
        <p:nvSpPr>
          <p:cNvPr id="3" name="Shape 1"/>
          <p:cNvSpPr/>
          <p:nvPr/>
        </p:nvSpPr>
        <p:spPr>
          <a:xfrm>
            <a:off x="815975" y="1486536"/>
            <a:ext cx="2180590" cy="2717165"/>
          </a:xfrm>
          <a:prstGeom prst="roundRect">
            <a:avLst>
              <a:gd name="adj" fmla="val 4514"/>
            </a:avLst>
          </a:prstGeom>
          <a:solidFill>
            <a:srgbClr val="FDFEFE"/>
          </a:solidFill>
          <a:ln w="6350">
            <a:solidFill>
              <a:srgbClr val="DCE4E6"/>
            </a:solidFill>
            <a:prstDash val="solid"/>
          </a:ln>
        </p:spPr>
      </p:sp>
      <p:sp>
        <p:nvSpPr>
          <p:cNvPr id="4" name="Text 2"/>
          <p:cNvSpPr/>
          <p:nvPr/>
        </p:nvSpPr>
        <p:spPr>
          <a:xfrm>
            <a:off x="102108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1 · MAI 2026</a:t>
            </a:r>
            <a:endParaRPr lang="en-US" sz="1300" dirty="0"/>
          </a:p>
        </p:txBody>
      </p:sp>
      <p:sp>
        <p:nvSpPr>
          <p:cNvPr id="5" name="Text 3"/>
          <p:cNvSpPr/>
          <p:nvPr/>
        </p:nvSpPr>
        <p:spPr>
          <a:xfrm>
            <a:off x="1021080" y="2024380"/>
            <a:ext cx="182349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V1 en binôme</a:t>
            </a:r>
            <a:endParaRPr lang="en-US" sz="1900" dirty="0"/>
          </a:p>
        </p:txBody>
      </p:sp>
      <p:sp>
        <p:nvSpPr>
          <p:cNvPr id="6" name="Text 4"/>
          <p:cNvSpPr/>
          <p:nvPr/>
        </p:nvSpPr>
        <p:spPr>
          <a:xfrm>
            <a:off x="1021080" y="2463800"/>
            <a:ext cx="182349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Collecte des 2 sources, nettoyage, dashboard Streamlit, modèle ML à R² = 0,995</a:t>
            </a:r>
            <a:endParaRPr lang="en-US" sz="1300" dirty="0"/>
          </a:p>
        </p:txBody>
      </p:sp>
      <p:pic>
        <p:nvPicPr>
          <p:cNvPr id="7" name="Image 0" descr="arrow-right">    </p:cNvPr>
          <p:cNvPicPr>
            <a:picLocks noChangeAspect="1"/>
          </p:cNvPicPr>
          <p:nvPr/>
        </p:nvPicPr>
        <p:blipFill>
          <a:blip r:embed="rId1"/>
          <a:srcRect l="0" r="0" t="0" b="0"/>
          <a:stretch/>
        </p:blipFill>
        <p:spPr>
          <a:xfrm>
            <a:off x="3152140" y="2743518"/>
            <a:ext cx="304800" cy="203200"/>
          </a:xfrm>
          <a:prstGeom prst="rect">
            <a:avLst/>
          </a:prstGeom>
        </p:spPr>
      </p:pic>
      <p:sp>
        <p:nvSpPr>
          <p:cNvPr id="8" name="Shape 5"/>
          <p:cNvSpPr/>
          <p:nvPr/>
        </p:nvSpPr>
        <p:spPr>
          <a:xfrm>
            <a:off x="3612515" y="1486536"/>
            <a:ext cx="2180590" cy="2717165"/>
          </a:xfrm>
          <a:prstGeom prst="roundRect">
            <a:avLst>
              <a:gd name="adj" fmla="val 4514"/>
            </a:avLst>
          </a:prstGeom>
          <a:solidFill>
            <a:srgbClr val="FDFEFE"/>
          </a:solidFill>
          <a:ln w="6350">
            <a:solidFill>
              <a:srgbClr val="DCE4E6"/>
            </a:solidFill>
            <a:prstDash val="solid"/>
          </a:ln>
        </p:spPr>
      </p:sp>
      <p:sp>
        <p:nvSpPr>
          <p:cNvPr id="9" name="Text 6"/>
          <p:cNvSpPr/>
          <p:nvPr/>
        </p:nvSpPr>
        <p:spPr>
          <a:xfrm>
            <a:off x="381762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2 · RELECTURE BC01</a:t>
            </a:r>
            <a:endParaRPr lang="en-US" sz="1300" dirty="0"/>
          </a:p>
        </p:txBody>
      </p:sp>
      <p:sp>
        <p:nvSpPr>
          <p:cNvPr id="10" name="Text 7"/>
          <p:cNvSpPr/>
          <p:nvPr/>
        </p:nvSpPr>
        <p:spPr>
          <a:xfrm>
            <a:off x="3817620" y="2024380"/>
            <a:ext cx="1823492" cy="70104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Écarts constatés</a:t>
            </a:r>
            <a:endParaRPr lang="en-US" sz="1900" dirty="0"/>
          </a:p>
        </p:txBody>
      </p:sp>
      <p:sp>
        <p:nvSpPr>
          <p:cNvPr id="11" name="Text 8"/>
          <p:cNvSpPr/>
          <p:nvPr/>
        </p:nvSpPr>
        <p:spPr>
          <a:xfrm>
            <a:off x="3817620" y="2801620"/>
            <a:ext cx="1823492" cy="12223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Pas d’API, collecte partielle dans le dépôt, base incomplète, pas de tests, fuite de données en ML</a:t>
            </a:r>
            <a:endParaRPr lang="en-US" sz="1300" dirty="0"/>
          </a:p>
        </p:txBody>
      </p:sp>
      <p:pic>
        <p:nvPicPr>
          <p:cNvPr id="12" name="Image 1" descr="arrow-right">    </p:cNvPr>
          <p:cNvPicPr>
            <a:picLocks noChangeAspect="1"/>
          </p:cNvPicPr>
          <p:nvPr/>
        </p:nvPicPr>
        <p:blipFill>
          <a:blip r:embed="rId2"/>
          <a:srcRect l="0" r="0" t="0" b="0"/>
          <a:stretch/>
        </p:blipFill>
        <p:spPr>
          <a:xfrm>
            <a:off x="5948680" y="2743518"/>
            <a:ext cx="304800" cy="203200"/>
          </a:xfrm>
          <a:prstGeom prst="rect">
            <a:avLst/>
          </a:prstGeom>
        </p:spPr>
      </p:pic>
      <p:sp>
        <p:nvSpPr>
          <p:cNvPr id="13" name="Shape 9"/>
          <p:cNvSpPr/>
          <p:nvPr/>
        </p:nvSpPr>
        <p:spPr>
          <a:xfrm>
            <a:off x="6409055" y="1486536"/>
            <a:ext cx="2180590" cy="2717165"/>
          </a:xfrm>
          <a:prstGeom prst="roundRect">
            <a:avLst>
              <a:gd name="adj" fmla="val 4514"/>
            </a:avLst>
          </a:prstGeom>
          <a:solidFill>
            <a:srgbClr val="FDFEFE"/>
          </a:solidFill>
          <a:ln w="6350">
            <a:solidFill>
              <a:srgbClr val="DCE4E6"/>
            </a:solidFill>
            <a:prstDash val="solid"/>
          </a:ln>
        </p:spPr>
      </p:sp>
      <p:sp>
        <p:nvSpPr>
          <p:cNvPr id="14" name="Text 10"/>
          <p:cNvSpPr/>
          <p:nvPr/>
        </p:nvSpPr>
        <p:spPr>
          <a:xfrm>
            <a:off x="6614160" y="169164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3 · REFONTE</a:t>
            </a:r>
            <a:endParaRPr lang="en-US" sz="1300" dirty="0"/>
          </a:p>
        </p:txBody>
      </p:sp>
      <p:sp>
        <p:nvSpPr>
          <p:cNvPr id="15" name="Text 11"/>
          <p:cNvSpPr/>
          <p:nvPr/>
        </p:nvSpPr>
        <p:spPr>
          <a:xfrm>
            <a:off x="6614160" y="2024380"/>
            <a:ext cx="182349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E3B4A"/>
                </a:solidFill>
                <a:latin typeface="Space Grotesk" pitchFamily="34" charset="0"/>
                <a:ea typeface="Space Grotesk" pitchFamily="34" charset="-122"/>
                <a:cs typeface="Space Grotesk" pitchFamily="34" charset="-120"/>
              </a:rPr>
              <a:t>V2 modulaire</a:t>
            </a:r>
            <a:endParaRPr lang="en-US" sz="1900" dirty="0"/>
          </a:p>
        </p:txBody>
      </p:sp>
      <p:sp>
        <p:nvSpPr>
          <p:cNvPr id="16" name="Text 12"/>
          <p:cNvSpPr/>
          <p:nvPr/>
        </p:nvSpPr>
        <p:spPr>
          <a:xfrm>
            <a:off x="6614160" y="2463800"/>
            <a:ext cx="1823492"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3454D"/>
                </a:solidFill>
                <a:latin typeface="IBM Plex Sans" pitchFamily="34" charset="0"/>
                <a:ea typeface="IBM Plex Sans" pitchFamily="34" charset="-122"/>
                <a:cs typeface="IBM Plex Sans" pitchFamily="34" charset="-120"/>
              </a:rPr>
              <a:t>collect / prepare / store, API FastAPI, 57 tests, RGPD, ML corrigé</a:t>
            </a:r>
            <a:endParaRPr lang="en-US" sz="1300" dirty="0"/>
          </a:p>
        </p:txBody>
      </p:sp>
      <p:pic>
        <p:nvPicPr>
          <p:cNvPr id="17" name="Image 2" descr="arrow-right">    </p:cNvPr>
          <p:cNvPicPr>
            <a:picLocks noChangeAspect="1"/>
          </p:cNvPicPr>
          <p:nvPr/>
        </p:nvPicPr>
        <p:blipFill>
          <a:blip r:embed="rId3"/>
          <a:srcRect l="0" r="0" t="0" b="0"/>
          <a:stretch/>
        </p:blipFill>
        <p:spPr>
          <a:xfrm>
            <a:off x="8745220" y="2743518"/>
            <a:ext cx="304800" cy="203200"/>
          </a:xfrm>
          <a:prstGeom prst="rect">
            <a:avLst/>
          </a:prstGeom>
        </p:spPr>
      </p:pic>
      <p:sp>
        <p:nvSpPr>
          <p:cNvPr id="18" name="Shape 13"/>
          <p:cNvSpPr/>
          <p:nvPr/>
        </p:nvSpPr>
        <p:spPr>
          <a:xfrm>
            <a:off x="9202420" y="1483361"/>
            <a:ext cx="2176780" cy="2723515"/>
          </a:xfrm>
          <a:prstGeom prst="roundRect">
            <a:avLst>
              <a:gd name="adj" fmla="val 4667"/>
            </a:avLst>
          </a:prstGeom>
          <a:solidFill>
            <a:srgbClr val="0E3B4A"/>
          </a:solidFill>
          <a:ln/>
        </p:spPr>
      </p:sp>
      <p:sp>
        <p:nvSpPr>
          <p:cNvPr id="19" name="Text 14"/>
          <p:cNvSpPr/>
          <p:nvPr/>
        </p:nvSpPr>
        <p:spPr>
          <a:xfrm>
            <a:off x="9405620" y="1686561"/>
            <a:ext cx="18234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3C8"/>
                </a:solidFill>
                <a:latin typeface="IBM Plex Sans" pitchFamily="34" charset="0"/>
                <a:ea typeface="IBM Plex Sans" pitchFamily="34" charset="-122"/>
                <a:cs typeface="IBM Plex Sans" pitchFamily="34" charset="-120"/>
              </a:rPr>
              <a:t>4 · AUJOURD’HUI</a:t>
            </a:r>
            <a:endParaRPr lang="en-US" sz="1300" dirty="0"/>
          </a:p>
        </p:txBody>
      </p:sp>
      <p:sp>
        <p:nvSpPr>
          <p:cNvPr id="20" name="Text 15"/>
          <p:cNvSpPr/>
          <p:nvPr/>
        </p:nvSpPr>
        <p:spPr>
          <a:xfrm>
            <a:off x="9405620" y="2019300"/>
            <a:ext cx="1823492" cy="70104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6F8F7"/>
                </a:solidFill>
                <a:latin typeface="Space Grotesk" pitchFamily="34" charset="0"/>
                <a:ea typeface="Space Grotesk" pitchFamily="34" charset="-122"/>
                <a:cs typeface="Space Grotesk" pitchFamily="34" charset="-120"/>
              </a:rPr>
              <a:t>Pipeline certifiable</a:t>
            </a:r>
            <a:endParaRPr lang="en-US" sz="1900" dirty="0"/>
          </a:p>
        </p:txBody>
      </p:sp>
      <p:sp>
        <p:nvSpPr>
          <p:cNvPr id="21" name="Text 16"/>
          <p:cNvSpPr/>
          <p:nvPr/>
        </p:nvSpPr>
        <p:spPr>
          <a:xfrm>
            <a:off x="9405620" y="2796541"/>
            <a:ext cx="182349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D8D5"/>
                </a:solidFill>
                <a:latin typeface="IBM Plex Sans" pitchFamily="34" charset="0"/>
                <a:ea typeface="IBM Plex Sans" pitchFamily="34" charset="-122"/>
                <a:cs typeface="IBM Plex Sans" pitchFamily="34" charset="-120"/>
              </a:rPr>
              <a:t>Reproductible en une commande, API documentée et sécurisée</a:t>
            </a:r>
            <a:endParaRPr lang="en-US" sz="1300" dirty="0"/>
          </a:p>
        </p:txBody>
      </p:sp>
      <p:sp>
        <p:nvSpPr>
          <p:cNvPr id="22" name="Text 17"/>
          <p:cNvSpPr/>
          <p:nvPr/>
        </p:nvSpPr>
        <p:spPr>
          <a:xfrm>
            <a:off x="812800" y="451167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0E3B4A"/>
                </a:solidFill>
                <a:latin typeface="IBM Plex Sans" pitchFamily="34" charset="0"/>
                <a:ea typeface="IBM Plex Sans" pitchFamily="34" charset="-122"/>
                <a:cs typeface="IBM Plex Sans" pitchFamily="34" charset="-120"/>
              </a:rPr>
              <a:t>Reconnaître l’écart entre ce qui est produit et ce qui est attendu — puis corriger, même un résultat flatteur.</a:t>
            </a:r>
            <a:endParaRPr lang="en-US" sz="1600" dirty="0"/>
          </a:p>
        </p:txBody>
      </p:sp>
      <p:sp>
        <p:nvSpPr>
          <p:cNvPr id="23" name="Text 18"/>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4" name="Text 19"/>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Architecture du pipeline</a:t>
            </a:r>
            <a:endParaRPr lang="en-US" sz="3200" dirty="0"/>
          </a:p>
        </p:txBody>
      </p:sp>
      <p:sp>
        <p:nvSpPr>
          <p:cNvPr id="3" name="Shape 1"/>
          <p:cNvSpPr/>
          <p:nvPr/>
        </p:nvSpPr>
        <p:spPr>
          <a:xfrm>
            <a:off x="812800" y="1432561"/>
            <a:ext cx="1747520" cy="1046480"/>
          </a:xfrm>
          <a:prstGeom prst="roundRect">
            <a:avLst>
              <a:gd name="adj" fmla="val 9709"/>
            </a:avLst>
          </a:prstGeom>
          <a:solidFill>
            <a:srgbClr val="0F8577"/>
          </a:solidFill>
          <a:ln/>
        </p:spPr>
      </p:sp>
      <p:sp>
        <p:nvSpPr>
          <p:cNvPr id="4" name="Text 2"/>
          <p:cNvSpPr/>
          <p:nvPr/>
        </p:nvSpPr>
        <p:spPr>
          <a:xfrm>
            <a:off x="99060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C1</a:t>
            </a:r>
            <a:endParaRPr lang="en-US" sz="2200" dirty="0"/>
          </a:p>
        </p:txBody>
      </p:sp>
      <p:sp>
        <p:nvSpPr>
          <p:cNvPr id="5" name="Text 3"/>
          <p:cNvSpPr/>
          <p:nvPr/>
        </p:nvSpPr>
        <p:spPr>
          <a:xfrm>
            <a:off x="99060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Collecte</a:t>
            </a:r>
            <a:endParaRPr lang="en-US" sz="1400" dirty="0"/>
          </a:p>
        </p:txBody>
      </p:sp>
      <p:pic>
        <p:nvPicPr>
          <p:cNvPr id="6" name="Image 0" descr="arrow-right">    </p:cNvPr>
          <p:cNvPicPr>
            <a:picLocks noChangeAspect="1"/>
          </p:cNvPicPr>
          <p:nvPr/>
        </p:nvPicPr>
        <p:blipFill>
          <a:blip r:embed="rId1"/>
          <a:srcRect l="0" r="0" t="0" b="0"/>
          <a:stretch/>
        </p:blipFill>
        <p:spPr>
          <a:xfrm>
            <a:off x="2661920" y="1866900"/>
            <a:ext cx="254000" cy="177800"/>
          </a:xfrm>
          <a:prstGeom prst="rect">
            <a:avLst/>
          </a:prstGeom>
        </p:spPr>
      </p:pic>
      <p:sp>
        <p:nvSpPr>
          <p:cNvPr id="7" name="Shape 4"/>
          <p:cNvSpPr/>
          <p:nvPr/>
        </p:nvSpPr>
        <p:spPr>
          <a:xfrm>
            <a:off x="3017520" y="1432561"/>
            <a:ext cx="1747520" cy="1046480"/>
          </a:xfrm>
          <a:prstGeom prst="roundRect">
            <a:avLst>
              <a:gd name="adj" fmla="val 9709"/>
            </a:avLst>
          </a:prstGeom>
          <a:solidFill>
            <a:srgbClr val="6D3FC4"/>
          </a:solidFill>
          <a:ln/>
        </p:spPr>
      </p:sp>
      <p:sp>
        <p:nvSpPr>
          <p:cNvPr id="8" name="Text 5"/>
          <p:cNvSpPr/>
          <p:nvPr/>
        </p:nvSpPr>
        <p:spPr>
          <a:xfrm>
            <a:off x="319532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C2 / C3</a:t>
            </a:r>
            <a:endParaRPr lang="en-US" sz="2200" dirty="0"/>
          </a:p>
        </p:txBody>
      </p:sp>
      <p:sp>
        <p:nvSpPr>
          <p:cNvPr id="9" name="Text 6"/>
          <p:cNvSpPr/>
          <p:nvPr/>
        </p:nvSpPr>
        <p:spPr>
          <a:xfrm>
            <a:off x="319532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Préparation</a:t>
            </a:r>
            <a:endParaRPr lang="en-US" sz="1400" dirty="0"/>
          </a:p>
        </p:txBody>
      </p:sp>
      <p:pic>
        <p:nvPicPr>
          <p:cNvPr id="10" name="Image 1" descr="arrow-right">    </p:cNvPr>
          <p:cNvPicPr>
            <a:picLocks noChangeAspect="1"/>
          </p:cNvPicPr>
          <p:nvPr/>
        </p:nvPicPr>
        <p:blipFill>
          <a:blip r:embed="rId2"/>
          <a:srcRect l="0" r="0" t="0" b="0"/>
          <a:stretch/>
        </p:blipFill>
        <p:spPr>
          <a:xfrm>
            <a:off x="4866640" y="1866900"/>
            <a:ext cx="254000" cy="177800"/>
          </a:xfrm>
          <a:prstGeom prst="rect">
            <a:avLst/>
          </a:prstGeom>
        </p:spPr>
      </p:pic>
      <p:sp>
        <p:nvSpPr>
          <p:cNvPr id="11" name="Shape 7"/>
          <p:cNvSpPr/>
          <p:nvPr/>
        </p:nvSpPr>
        <p:spPr>
          <a:xfrm>
            <a:off x="5222240" y="1432561"/>
            <a:ext cx="1747520" cy="1046480"/>
          </a:xfrm>
          <a:prstGeom prst="roundRect">
            <a:avLst>
              <a:gd name="adj" fmla="val 9709"/>
            </a:avLst>
          </a:prstGeom>
          <a:solidFill>
            <a:srgbClr val="2E6BD8"/>
          </a:solidFill>
          <a:ln/>
        </p:spPr>
      </p:sp>
      <p:sp>
        <p:nvSpPr>
          <p:cNvPr id="12" name="Text 8"/>
          <p:cNvSpPr/>
          <p:nvPr/>
        </p:nvSpPr>
        <p:spPr>
          <a:xfrm>
            <a:off x="540004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C4</a:t>
            </a:r>
            <a:endParaRPr lang="en-US" sz="2200" dirty="0"/>
          </a:p>
        </p:txBody>
      </p:sp>
      <p:sp>
        <p:nvSpPr>
          <p:cNvPr id="13" name="Text 9"/>
          <p:cNvSpPr/>
          <p:nvPr/>
        </p:nvSpPr>
        <p:spPr>
          <a:xfrm>
            <a:off x="540004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Stockage</a:t>
            </a:r>
            <a:endParaRPr lang="en-US" sz="1400" dirty="0"/>
          </a:p>
        </p:txBody>
      </p:sp>
      <p:pic>
        <p:nvPicPr>
          <p:cNvPr id="14" name="Image 2" descr="arrow-right">    </p:cNvPr>
          <p:cNvPicPr>
            <a:picLocks noChangeAspect="1"/>
          </p:cNvPicPr>
          <p:nvPr/>
        </p:nvPicPr>
        <p:blipFill>
          <a:blip r:embed="rId3"/>
          <a:srcRect l="0" r="0" t="0" b="0"/>
          <a:stretch/>
        </p:blipFill>
        <p:spPr>
          <a:xfrm>
            <a:off x="7071360" y="1866900"/>
            <a:ext cx="254000" cy="177800"/>
          </a:xfrm>
          <a:prstGeom prst="rect">
            <a:avLst/>
          </a:prstGeom>
        </p:spPr>
      </p:pic>
      <p:sp>
        <p:nvSpPr>
          <p:cNvPr id="15" name="Shape 10"/>
          <p:cNvSpPr/>
          <p:nvPr/>
        </p:nvSpPr>
        <p:spPr>
          <a:xfrm>
            <a:off x="7426960" y="1432561"/>
            <a:ext cx="1747520" cy="1046480"/>
          </a:xfrm>
          <a:prstGeom prst="roundRect">
            <a:avLst>
              <a:gd name="adj" fmla="val 9709"/>
            </a:avLst>
          </a:prstGeom>
          <a:solidFill>
            <a:srgbClr val="C65F1A"/>
          </a:solidFill>
          <a:ln/>
        </p:spPr>
      </p:sp>
      <p:sp>
        <p:nvSpPr>
          <p:cNvPr id="16" name="Text 11"/>
          <p:cNvSpPr/>
          <p:nvPr/>
        </p:nvSpPr>
        <p:spPr>
          <a:xfrm>
            <a:off x="760476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C5</a:t>
            </a:r>
            <a:endParaRPr lang="en-US" sz="2200" dirty="0"/>
          </a:p>
        </p:txBody>
      </p:sp>
      <p:sp>
        <p:nvSpPr>
          <p:cNvPr id="17" name="Text 12"/>
          <p:cNvSpPr/>
          <p:nvPr/>
        </p:nvSpPr>
        <p:spPr>
          <a:xfrm>
            <a:off x="760476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API REST</a:t>
            </a:r>
            <a:endParaRPr lang="en-US" sz="1400" dirty="0"/>
          </a:p>
        </p:txBody>
      </p:sp>
      <p:pic>
        <p:nvPicPr>
          <p:cNvPr id="18" name="Image 3" descr="arrow-right">    </p:cNvPr>
          <p:cNvPicPr>
            <a:picLocks noChangeAspect="1"/>
          </p:cNvPicPr>
          <p:nvPr/>
        </p:nvPicPr>
        <p:blipFill>
          <a:blip r:embed="rId4"/>
          <a:srcRect l="0" r="0" t="0" b="0"/>
          <a:stretch/>
        </p:blipFill>
        <p:spPr>
          <a:xfrm>
            <a:off x="9276080" y="1866900"/>
            <a:ext cx="254000" cy="177800"/>
          </a:xfrm>
          <a:prstGeom prst="rect">
            <a:avLst/>
          </a:prstGeom>
        </p:spPr>
      </p:pic>
      <p:sp>
        <p:nvSpPr>
          <p:cNvPr id="19" name="Shape 13"/>
          <p:cNvSpPr/>
          <p:nvPr/>
        </p:nvSpPr>
        <p:spPr>
          <a:xfrm>
            <a:off x="9631680" y="1432561"/>
            <a:ext cx="1747520" cy="1046480"/>
          </a:xfrm>
          <a:prstGeom prst="roundRect">
            <a:avLst>
              <a:gd name="adj" fmla="val 9709"/>
            </a:avLst>
          </a:prstGeom>
          <a:solidFill>
            <a:srgbClr val="0E3B4A"/>
          </a:solidFill>
          <a:ln/>
        </p:spPr>
      </p:sp>
      <p:sp>
        <p:nvSpPr>
          <p:cNvPr id="20" name="Text 14"/>
          <p:cNvSpPr/>
          <p:nvPr/>
        </p:nvSpPr>
        <p:spPr>
          <a:xfrm>
            <a:off x="9809480" y="1610361"/>
            <a:ext cx="144272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6F8F7"/>
                </a:solidFill>
                <a:latin typeface="Space Grotesk" pitchFamily="34" charset="0"/>
                <a:ea typeface="Space Grotesk" pitchFamily="34" charset="-122"/>
                <a:cs typeface="Space Grotesk" pitchFamily="34" charset="-120"/>
              </a:rPr>
              <a:t>Service</a:t>
            </a:r>
            <a:endParaRPr lang="en-US" sz="2200" dirty="0"/>
          </a:p>
        </p:txBody>
      </p:sp>
      <p:sp>
        <p:nvSpPr>
          <p:cNvPr id="21" name="Text 15"/>
          <p:cNvSpPr/>
          <p:nvPr/>
        </p:nvSpPr>
        <p:spPr>
          <a:xfrm>
            <a:off x="9809480" y="2052321"/>
            <a:ext cx="14427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8F7"/>
                </a:solidFill>
                <a:latin typeface="IBM Plex Sans" pitchFamily="34" charset="0"/>
                <a:ea typeface="IBM Plex Sans" pitchFamily="34" charset="-122"/>
                <a:cs typeface="IBM Plex Sans" pitchFamily="34" charset="-120"/>
              </a:rPr>
              <a:t>Dashboard</a:t>
            </a:r>
            <a:endParaRPr lang="en-US" sz="1400" dirty="0"/>
          </a:p>
        </p:txBody>
      </p:sp>
      <p:sp>
        <p:nvSpPr>
          <p:cNvPr id="22" name="Text 16"/>
          <p:cNvSpPr/>
          <p:nvPr/>
        </p:nvSpPr>
        <p:spPr>
          <a:xfrm>
            <a:off x="8636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8577"/>
                </a:solidFill>
                <a:latin typeface="JetBrains Mono" pitchFamily="34" charset="0"/>
                <a:ea typeface="JetBrains Mono" pitchFamily="34" charset="-122"/>
                <a:cs typeface="JetBrains Mono" pitchFamily="34" charset="-120"/>
              </a:rPr>
              <a:t>collect.py</a:t>
            </a:r>
            <a:endParaRPr lang="en-US" sz="1200" dirty="0"/>
          </a:p>
        </p:txBody>
      </p:sp>
      <p:sp>
        <p:nvSpPr>
          <p:cNvPr id="23" name="Text 17"/>
          <p:cNvSpPr/>
          <p:nvPr/>
        </p:nvSpPr>
        <p:spPr>
          <a:xfrm>
            <a:off x="8636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API France Travail (OAuth2) · API Adzuna · contours et communes</a:t>
            </a:r>
            <a:endParaRPr lang="en-US" sz="1200" dirty="0"/>
          </a:p>
        </p:txBody>
      </p:sp>
      <p:sp>
        <p:nvSpPr>
          <p:cNvPr id="24" name="Text 18"/>
          <p:cNvSpPr/>
          <p:nvPr/>
        </p:nvSpPr>
        <p:spPr>
          <a:xfrm>
            <a:off x="29972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D3FC4"/>
                </a:solidFill>
                <a:latin typeface="JetBrains Mono" pitchFamily="34" charset="0"/>
                <a:ea typeface="JetBrains Mono" pitchFamily="34" charset="-122"/>
                <a:cs typeface="JetBrains Mono" pitchFamily="34" charset="-120"/>
              </a:rPr>
              <a:t>prepare.py</a:t>
            </a:r>
            <a:endParaRPr lang="en-US" sz="1200" dirty="0"/>
          </a:p>
        </p:txBody>
      </p:sp>
      <p:sp>
        <p:nvSpPr>
          <p:cNvPr id="25" name="Text 19"/>
          <p:cNvSpPr/>
          <p:nvPr/>
        </p:nvSpPr>
        <p:spPr>
          <a:xfrm>
            <a:off x="29972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Doublons · médianes · codes ROME · communes · RGPD</a:t>
            </a:r>
            <a:endParaRPr lang="en-US" sz="1200" dirty="0"/>
          </a:p>
        </p:txBody>
      </p:sp>
      <p:sp>
        <p:nvSpPr>
          <p:cNvPr id="26" name="Text 20"/>
          <p:cNvSpPr/>
          <p:nvPr/>
        </p:nvSpPr>
        <p:spPr>
          <a:xfrm>
            <a:off x="51308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BD8"/>
                </a:solidFill>
                <a:latin typeface="JetBrains Mono" pitchFamily="34" charset="0"/>
                <a:ea typeface="JetBrains Mono" pitchFamily="34" charset="-122"/>
                <a:cs typeface="JetBrains Mono" pitchFamily="34" charset="-120"/>
              </a:rPr>
              <a:t>store.py</a:t>
            </a:r>
            <a:endParaRPr lang="en-US" sz="1200" dirty="0"/>
          </a:p>
        </p:txBody>
      </p:sp>
      <p:sp>
        <p:nvSpPr>
          <p:cNvPr id="27" name="Text 21"/>
          <p:cNvSpPr/>
          <p:nvPr/>
        </p:nvSpPr>
        <p:spPr>
          <a:xfrm>
            <a:off x="5130800" y="2997200"/>
            <a:ext cx="1988312"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SQLite · 4 tables · agrégation SQL · purge 12 mois</a:t>
            </a:r>
            <a:endParaRPr lang="en-US" sz="1200" dirty="0"/>
          </a:p>
        </p:txBody>
      </p:sp>
      <p:sp>
        <p:nvSpPr>
          <p:cNvPr id="28" name="Text 22"/>
          <p:cNvSpPr/>
          <p:nvPr/>
        </p:nvSpPr>
        <p:spPr>
          <a:xfrm>
            <a:off x="72644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65F1A"/>
                </a:solidFill>
                <a:latin typeface="JetBrains Mono" pitchFamily="34" charset="0"/>
                <a:ea typeface="JetBrains Mono" pitchFamily="34" charset="-122"/>
                <a:cs typeface="JetBrains Mono" pitchFamily="34" charset="-120"/>
              </a:rPr>
              <a:t>api/main.py</a:t>
            </a:r>
            <a:endParaRPr lang="en-US" sz="1200" dirty="0"/>
          </a:p>
        </p:txBody>
      </p:sp>
      <p:sp>
        <p:nvSpPr>
          <p:cNvPr id="29" name="Text 23"/>
          <p:cNvSpPr/>
          <p:nvPr/>
        </p:nvSpPr>
        <p:spPr>
          <a:xfrm>
            <a:off x="7264400" y="2997200"/>
            <a:ext cx="198831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FastAPI · 7 endpoints · clé API · Swagger · Docker</a:t>
            </a:r>
            <a:endParaRPr lang="en-US" sz="1200" dirty="0"/>
          </a:p>
        </p:txBody>
      </p:sp>
      <p:sp>
        <p:nvSpPr>
          <p:cNvPr id="30" name="Text 24"/>
          <p:cNvSpPr/>
          <p:nvPr/>
        </p:nvSpPr>
        <p:spPr>
          <a:xfrm>
            <a:off x="9398000" y="2733039"/>
            <a:ext cx="19883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3B4A"/>
                </a:solidFill>
                <a:latin typeface="JetBrains Mono" pitchFamily="34" charset="0"/>
                <a:ea typeface="JetBrains Mono" pitchFamily="34" charset="-122"/>
                <a:cs typeface="JetBrains Mono" pitchFamily="34" charset="-120"/>
              </a:rPr>
              <a:t>webapp/app.py</a:t>
            </a:r>
            <a:endParaRPr lang="en-US" sz="1200" dirty="0"/>
          </a:p>
        </p:txBody>
      </p:sp>
      <p:sp>
        <p:nvSpPr>
          <p:cNvPr id="31" name="Text 25"/>
          <p:cNvSpPr/>
          <p:nvPr/>
        </p:nvSpPr>
        <p:spPr>
          <a:xfrm>
            <a:off x="9398000" y="2997200"/>
            <a:ext cx="1988312"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3454D"/>
                </a:solidFill>
                <a:latin typeface="IBM Plex Sans" pitchFamily="34" charset="0"/>
                <a:ea typeface="IBM Plex Sans" pitchFamily="34" charset="-122"/>
                <a:cs typeface="IBM Plex Sans" pitchFamily="34" charset="-120"/>
              </a:rPr>
              <a:t>Streamlit · 6 onglets · carte</a:t>
            </a:r>
            <a:endParaRPr lang="en-US" sz="1200" dirty="0"/>
          </a:p>
        </p:txBody>
      </p:sp>
      <p:sp>
        <p:nvSpPr>
          <p:cNvPr id="32" name="Shape 26"/>
          <p:cNvSpPr/>
          <p:nvPr/>
        </p:nvSpPr>
        <p:spPr>
          <a:xfrm>
            <a:off x="812800" y="4955539"/>
            <a:ext cx="10566400" cy="886460"/>
          </a:xfrm>
          <a:prstGeom prst="roundRect">
            <a:avLst>
              <a:gd name="adj" fmla="val 11461"/>
            </a:avLst>
          </a:prstGeom>
          <a:solidFill>
            <a:srgbClr val="E4EFEE"/>
          </a:solidFill>
          <a:ln/>
        </p:spPr>
      </p:sp>
      <p:sp>
        <p:nvSpPr>
          <p:cNvPr id="33" name="Text 27"/>
          <p:cNvSpPr/>
          <p:nvPr/>
        </p:nvSpPr>
        <p:spPr>
          <a:xfrm>
            <a:off x="1066800" y="5133339"/>
            <a:ext cx="103601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run_pipeline.py</a:t>
            </a:r>
            <a:r>
              <a:rPr lang="en-US" sz="1400" dirty="0">
                <a:solidFill>
                  <a:srgbClr val="0E3B4A"/>
                </a:solidFill>
                <a:latin typeface="IBM Plex Sans" pitchFamily="34" charset="0"/>
                <a:ea typeface="IBM Plex Sans" pitchFamily="34" charset="-122"/>
                <a:cs typeface="IBM Plex Sans" pitchFamily="34" charset="-120"/>
              </a:rPr>
              <a:t> orchestre C1 → C4 · cron quotidien à 7 h · </a:t>
            </a:r>
            <a:r>
              <a:rPr lang="en-US" sz="1400" b="1" dirty="0">
                <a:solidFill>
                  <a:srgbClr val="0E3B4A"/>
                </a:solidFill>
                <a:latin typeface="IBM Plex Sans" pitchFamily="34" charset="0"/>
                <a:ea typeface="IBM Plex Sans" pitchFamily="34" charset="-122"/>
                <a:cs typeface="IBM Plex Sans" pitchFamily="34" charset="-120"/>
              </a:rPr>
              <a:t>57 tests pytest</a:t>
            </a:r>
            <a:endParaRPr lang="en-US" sz="1400" dirty="0"/>
          </a:p>
        </p:txBody>
      </p:sp>
      <p:sp>
        <p:nvSpPr>
          <p:cNvPr id="34" name="Text 28"/>
          <p:cNvSpPr/>
          <p:nvPr/>
        </p:nvSpPr>
        <p:spPr>
          <a:xfrm>
            <a:off x="1066800" y="5433061"/>
            <a:ext cx="103601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2"/>
                </a:solidFill>
                <a:latin typeface="IBM Plex Sans" pitchFamily="34" charset="0"/>
                <a:ea typeface="IBM Plex Sans" pitchFamily="34" charset="-122"/>
                <a:cs typeface="IBM Plex Sans" pitchFamily="34" charset="-120"/>
              </a:rPr>
              <a:t>Python 3.11 · requests · pandas · SQLite · FastAPI · Pydantic · Streamlit · Docker</a:t>
            </a:r>
            <a:endParaRPr lang="en-US" sz="1300" dirty="0"/>
          </a:p>
        </p:txBody>
      </p:sp>
      <p:sp>
        <p:nvSpPr>
          <p:cNvPr id="35" name="Text 29"/>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36" name="Text 30"/>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306144"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C1 — Collecte automatisée</a:t>
            </a:r>
            <a:endParaRPr lang="en-US" sz="3200" dirty="0"/>
          </a:p>
        </p:txBody>
      </p:sp>
      <p:sp>
        <p:nvSpPr>
          <p:cNvPr id="3" name="Text 1"/>
          <p:cNvSpPr/>
          <p:nvPr/>
        </p:nvSpPr>
        <p:spPr>
          <a:xfrm>
            <a:off x="10802700" y="769621"/>
            <a:ext cx="576501" cy="350520"/>
          </a:xfrm>
          <a:prstGeom prst="roundRect">
            <a:avLst>
              <a:gd name="adj" fmla="val 50000"/>
            </a:avLst>
          </a:prstGeom>
          <a:solidFill>
            <a:srgbClr val="0F8577"/>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C1</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442721"/>
          <a:ext cx="10556240" cy="2015490"/>
        </p:xfrm>
        <a:graphic>
          <a:graphicData uri="http://schemas.openxmlformats.org/drawingml/2006/table">
            <a:tbl>
              <a:tblPr/>
              <a:tblGrid>
                <a:gridCol w="3166872"/>
                <a:gridCol w="2111248"/>
                <a:gridCol w="2639060"/>
                <a:gridCol w="2639060"/>
              </a:tblGrid>
              <a:tr h="356870">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Accès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c>
                  <a:txBody>
                    <a:bodyPr/>
                    <a:lstStyle/>
                    <a:p>
                      <a:pPr indent="0" marL="0">
                        <a:lnSpc>
                          <a:spcPts val="1820"/>
                        </a:lnSpc>
                        <a:buNone/>
                      </a:pPr>
                      <a:r>
                        <a:rPr lang="en-US" sz="1300" b="1" dirty="0">
                          <a:solidFill>
                            <a:srgbClr val="F6F8F7"/>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6C61"/>
                      </a:solidFill>
                      <a:prstDash val="solid"/>
                      <a:round/>
                      <a:headEnd type="none" w="med" len="med"/>
                      <a:tailEnd type="none" w="med" len="med"/>
                    </a:lnL>
                    <a:lnR w="12700" cap="flat" cmpd="sng" algn="ctr">
                      <a:solidFill>
                        <a:srgbClr val="106C6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106C61"/>
                      </a:solidFill>
                      <a:prstDash val="solid"/>
                      <a:round/>
                      <a:headEnd type="none" w="med" len="med"/>
                      <a:tailEnd type="none" w="med" len="med"/>
                    </a:lnB>
                    <a:solidFill>
                      <a:srgbClr val="0F8577"/>
                    </a:solidFill>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France Travail — Offres 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API 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OAuth2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24 051 offres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106C6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Adzuna (agrégateur)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API 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app_id + app_key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12 500 brutes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r>
              <a:tr h="35687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Contours départements (IGN)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Fichier GeoJSON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HTTPS 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8 contours → base + carte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2C1"/>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588010">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Communes d’Île-de-France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6C5"/>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Fichier (GeoJSON → CSV)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HTTPS 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c>
                  <a:txBody>
                    <a:bodyPr/>
                    <a:lstStyle/>
                    <a:p>
                      <a:pPr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1 276 communes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C2C1"/>
                      </a:solidFill>
                      <a:prstDash val="solid"/>
                      <a:round/>
                      <a:headEnd type="none" w="med" len="med"/>
                      <a:tailEnd type="none" w="med" len="med"/>
                    </a:lnL>
                    <a:lnR w="12700" cap="flat" cmpd="sng" algn="ctr">
                      <a:solidFill>
                        <a:srgbClr val="BDC2C1"/>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2C1"/>
                      </a:solidFill>
                      <a:prstDash val="solid"/>
                      <a:round/>
                      <a:headEnd type="none" w="med" len="med"/>
                      <a:tailEnd type="none" w="med" len="med"/>
                    </a:lnB>
                    <a:solidFill>
                      <a:srgbClr val="EDF3F2"/>
                    </a:solidFill>
                  </a:tcPr>
                </a:tc>
              </a:tr>
            </a:tbl>
          </a:graphicData>
        </a:graphic>
      </p:graphicFrame>
      <p:sp>
        <p:nvSpPr>
          <p:cNvPr id="5" name="Shape 2"/>
          <p:cNvSpPr/>
          <p:nvPr/>
        </p:nvSpPr>
        <p:spPr>
          <a:xfrm>
            <a:off x="812800" y="3712211"/>
            <a:ext cx="5401231" cy="2129790"/>
          </a:xfrm>
          <a:prstGeom prst="roundRect">
            <a:avLst>
              <a:gd name="adj" fmla="val 4770"/>
            </a:avLst>
          </a:prstGeom>
          <a:solidFill>
            <a:srgbClr val="14313B"/>
          </a:solidFill>
          <a:ln/>
        </p:spPr>
      </p:sp>
      <p:sp>
        <p:nvSpPr>
          <p:cNvPr id="6" name="Text 3"/>
          <p:cNvSpPr/>
          <p:nvPr/>
        </p:nvSpPr>
        <p:spPr>
          <a:xfrm>
            <a:off x="1041400" y="3940811"/>
            <a:ext cx="50923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3C8"/>
                </a:solidFill>
                <a:latin typeface="IBM Plex Sans" pitchFamily="34" charset="0"/>
                <a:ea typeface="IBM Plex Sans" pitchFamily="34" charset="-122"/>
                <a:cs typeface="IBM Plex Sans" pitchFamily="34" charset="-120"/>
              </a:rPr>
              <a:t>Pagination France Travail — 150 offres par appel, plafond 3 150</a:t>
            </a:r>
            <a:endParaRPr lang="en-US" sz="1200" dirty="0"/>
          </a:p>
        </p:txBody>
      </p:sp>
      <p:sp>
        <p:nvSpPr>
          <p:cNvPr id="7" name="Text 4"/>
          <p:cNvSpPr/>
          <p:nvPr/>
        </p:nvSpPr>
        <p:spPr>
          <a:xfrm>
            <a:off x="1041400" y="4255771"/>
            <a:ext cx="509235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for dept in 75 77 78 91 92 93 94 95:</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range = 0-149, 150-299 … 3000-3149</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~3 000 offres par département</a:t>
            </a:r>
            <a:endParaRPr lang="en-US" sz="1200" dirty="0"/>
          </a:p>
        </p:txBody>
      </p:sp>
      <p:sp>
        <p:nvSpPr>
          <p:cNvPr id="8" name="Shape 5"/>
          <p:cNvSpPr/>
          <p:nvPr/>
        </p:nvSpPr>
        <p:spPr>
          <a:xfrm>
            <a:off x="6420406" y="3715386"/>
            <a:ext cx="4955620" cy="2123440"/>
          </a:xfrm>
          <a:prstGeom prst="roundRect">
            <a:avLst>
              <a:gd name="adj" fmla="val 4635"/>
            </a:avLst>
          </a:prstGeom>
          <a:solidFill>
            <a:srgbClr val="FDFEFE"/>
          </a:solidFill>
          <a:ln w="6350">
            <a:solidFill>
              <a:srgbClr val="DCE4E6"/>
            </a:solidFill>
            <a:prstDash val="solid"/>
          </a:ln>
        </p:spPr>
      </p:sp>
      <p:sp>
        <p:nvSpPr>
          <p:cNvPr id="9" name="Text 6"/>
          <p:cNvSpPr/>
          <p:nvPr/>
        </p:nvSpPr>
        <p:spPr>
          <a:xfrm>
            <a:off x="6650911" y="3945889"/>
            <a:ext cx="46294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Robustesse</a:t>
            </a:r>
            <a:endParaRPr lang="en-US" sz="1400" dirty="0"/>
          </a:p>
        </p:txBody>
      </p:sp>
      <p:sp>
        <p:nvSpPr>
          <p:cNvPr id="10" name="Text 7"/>
          <p:cNvSpPr/>
          <p:nvPr/>
        </p:nvSpPr>
        <p:spPr>
          <a:xfrm>
            <a:off x="6650911" y="4271011"/>
            <a:ext cx="4629448" cy="982980"/>
          </a:xfrm>
          <a:prstGeom prst="rect">
            <a:avLst/>
          </a:prstGeom>
          <a:noFill/>
          <a:ln/>
        </p:spPr>
        <p:txBody>
          <a:bodyPr wrap="square" lIns="0" tIns="0" rIns="0" bIns="0" rtlCol="0" anchor="t">
            <a:normAutofit/>
          </a:bodyPr>
          <a:lstStyle/>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3 tentatives, attente croissante, HTTP 429</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Idempotence : 1 fichier par source et par jour</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Journal horodaté + empreinte MD5</a:t>
            </a:r>
            <a:endParaRPr lang="en-US" sz="1300" dirty="0"/>
          </a:p>
          <a:p>
            <a:pPr algn="l" marL="198120" indent="-168656">
              <a:lnSpc>
                <a:spcPts val="1885"/>
              </a:lnSpc>
              <a:buSzPct val="100000"/>
              <a:buChar char="•"/>
            </a:pPr>
            <a:r>
              <a:rPr lang="en-US" sz="1300" dirty="0">
                <a:solidFill>
                  <a:srgbClr val="33454D"/>
                </a:solidFill>
                <a:latin typeface="IBM Plex Sans" pitchFamily="34" charset="0"/>
                <a:ea typeface="IBM Plex Sans" pitchFamily="34" charset="-122"/>
                <a:cs typeface="IBM Plex Sans" pitchFamily="34" charset="-120"/>
              </a:rPr>
              <a:t>Secrets dans .env, jamais dans le code</a:t>
            </a:r>
            <a:endParaRPr lang="en-US" sz="1300" dirty="0"/>
          </a:p>
        </p:txBody>
      </p:sp>
      <p:sp>
        <p:nvSpPr>
          <p:cNvPr id="11" name="Text 8"/>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2" name="Text 9"/>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7708307"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C2 — Préparation : méthodes retenues</a:t>
            </a:r>
            <a:endParaRPr lang="en-US" sz="3200" dirty="0"/>
          </a:p>
        </p:txBody>
      </p:sp>
      <p:sp>
        <p:nvSpPr>
          <p:cNvPr id="3" name="Text 1"/>
          <p:cNvSpPr/>
          <p:nvPr/>
        </p:nvSpPr>
        <p:spPr>
          <a:xfrm>
            <a:off x="10435908" y="769621"/>
            <a:ext cx="943293"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C2 · C3</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391921"/>
          <a:ext cx="10556240" cy="2524760"/>
        </p:xfrm>
        <a:graphic>
          <a:graphicData uri="http://schemas.openxmlformats.org/drawingml/2006/table">
            <a:tbl>
              <a:tblPr/>
              <a:tblGrid>
                <a:gridCol w="2533498"/>
                <a:gridCol w="4644746"/>
                <a:gridCol w="3377997"/>
              </a:tblGrid>
              <a:tr h="330200">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Problème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Méthode retenue (V1 + V2)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9369D"/>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c>
                  <a:txBody>
                    <a:bodyPr/>
                    <a:lstStyle/>
                    <a:p>
                      <a:pPr indent="0" marL="0">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Résultat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9369D"/>
                      </a:solidFill>
                      <a:prstDash val="solid"/>
                      <a:round/>
                      <a:headEnd type="none" w="med" len="med"/>
                      <a:tailEnd type="none" w="med" len="med"/>
                    </a:lnL>
                    <a:lnR w="12700" cap="flat" cmpd="sng" algn="ctr">
                      <a:solidFill>
                        <a:srgbClr val="59369D"/>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59369D"/>
                      </a:solidFill>
                      <a:prstDash val="solid"/>
                      <a:round/>
                      <a:headEnd type="none" w="med" len="med"/>
                      <a:tailEnd type="none" w="med" len="med"/>
                    </a:lnB>
                    <a:solidFill>
                      <a:srgbClr val="6D3FC4"/>
                    </a:solidFill>
                  </a:tcPr>
                </a:tc>
              </a:tr>
              <a:tr h="54356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64 % de salaires non affichés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Médiane des salaires affichés : métier × dépt → métier → domaine → dépt → région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100 % complétés, valeurs repérées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59369D"/>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Codes ROME absents (Adzuna)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Intitulé identique chez France Travail, sinon catégorie Adzuna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596 par intitulé, 2 763 par catégorie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Lieux sans département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Référentiel des 1 276 communes d’Île-de-France (IGN / Insee)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675 → 81 · 47 corrigés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Doublons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URL, puis titre + entreprise + lieu, entre les 2 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0 doublon en 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Contrats hétérogènes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7 catégories, temps de travail à part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Sources comparables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0BCC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30200">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Coordonnées de recruteurs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6C5"/>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Masquées [email] / [tel]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c>
                  <a:txBody>
                    <a:bodyPr/>
                    <a:lstStyle/>
                    <a:p>
                      <a:pPr indent="0" marL="0">
                        <a:lnSpc>
                          <a:spcPts val="1680"/>
                        </a:lnSpc>
                        <a:buNone/>
                      </a:pPr>
                      <a:r>
                        <a:rPr lang="en-US" sz="1200" dirty="0">
                          <a:solidFill>
                            <a:srgbClr val="1B2B33"/>
                          </a:solidFill>
                          <a:latin typeface="IBM Plex Sans" pitchFamily="34" charset="0"/>
                          <a:ea typeface="IBM Plex Sans" pitchFamily="34" charset="-122"/>
                          <a:cs typeface="IBM Plex Sans" pitchFamily="34" charset="-120"/>
                        </a:rPr>
                        <a:t>RGPD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C6"/>
                      </a:solidFill>
                      <a:prstDash val="solid"/>
                      <a:round/>
                      <a:headEnd type="none" w="med" len="med"/>
                      <a:tailEnd type="none" w="med" len="med"/>
                    </a:lnL>
                    <a:lnR w="12700" cap="flat" cmpd="sng" algn="ctr">
                      <a:solidFill>
                        <a:srgbClr val="C0BCC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0BCC6"/>
                      </a:solidFill>
                      <a:prstDash val="solid"/>
                      <a:round/>
                      <a:headEnd type="none" w="med" len="med"/>
                      <a:tailEnd type="none" w="med" len="med"/>
                    </a:lnB>
                    <a:solidFill>
                      <a:srgbClr val="F0ECF9"/>
                    </a:solidFill>
                  </a:tcPr>
                </a:tc>
              </a:tr>
            </a:tbl>
          </a:graphicData>
        </a:graphic>
      </p:graphicFrame>
      <p:sp>
        <p:nvSpPr>
          <p:cNvPr id="5" name="Text 2"/>
          <p:cNvSpPr/>
          <p:nvPr/>
        </p:nvSpPr>
        <p:spPr>
          <a:xfrm>
            <a:off x="812800" y="41198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Une règle = une fonction testée · </a:t>
            </a:r>
            <a:r>
              <a:rPr lang="en-US" sz="1400" b="1" dirty="0">
                <a:solidFill>
                  <a:srgbClr val="33454D"/>
                </a:solidFill>
                <a:latin typeface="IBM Plex Sans" pitchFamily="34" charset="0"/>
                <a:ea typeface="IBM Plex Sans" pitchFamily="34" charset="-122"/>
                <a:cs typeface="IBM Plex Sans" pitchFamily="34" charset="-120"/>
              </a:rPr>
              <a:t>28 301 offres unifiées</a:t>
            </a:r>
            <a:r>
              <a:rPr lang="en-US" sz="1400" dirty="0">
                <a:solidFill>
                  <a:srgbClr val="33454D"/>
                </a:solidFill>
                <a:latin typeface="IBM Plex Sans" pitchFamily="34" charset="0"/>
                <a:ea typeface="IBM Plex Sans" pitchFamily="34" charset="-122"/>
                <a:cs typeface="IBM Plex Sans" pitchFamily="34" charset="-120"/>
              </a:rPr>
              <a:t> · indicateurs calculés sur les seuls salaires affichés</a:t>
            </a:r>
            <a:endParaRPr lang="en-US" sz="1400" dirty="0"/>
          </a:p>
        </p:txBody>
      </p:sp>
      <p:sp>
        <p:nvSpPr>
          <p:cNvPr id="6" name="Text 3"/>
          <p:cNvSpPr/>
          <p:nvPr/>
        </p:nvSpPr>
        <p:spPr>
          <a:xfrm>
            <a:off x="812800" y="62890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7" name="Text 4"/>
          <p:cNvSpPr/>
          <p:nvPr/>
        </p:nvSpPr>
        <p:spPr>
          <a:xfrm>
            <a:off x="10058400" y="62890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4802199"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C3 — Agrégation en SQL</a:t>
            </a:r>
            <a:endParaRPr lang="en-US" sz="3200" dirty="0"/>
          </a:p>
        </p:txBody>
      </p:sp>
      <p:sp>
        <p:nvSpPr>
          <p:cNvPr id="3" name="Text 1"/>
          <p:cNvSpPr/>
          <p:nvPr/>
        </p:nvSpPr>
        <p:spPr>
          <a:xfrm>
            <a:off x="10435908" y="769621"/>
            <a:ext cx="943293"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C2 · C3</a:t>
            </a:r>
            <a:endParaRPr lang="en-US" sz="1400" dirty="0"/>
          </a:p>
        </p:txBody>
      </p:sp>
      <p:sp>
        <p:nvSpPr>
          <p:cNvPr id="4" name="Shape 2"/>
          <p:cNvSpPr/>
          <p:nvPr/>
        </p:nvSpPr>
        <p:spPr>
          <a:xfrm>
            <a:off x="812800" y="1432561"/>
            <a:ext cx="5755720" cy="4409440"/>
          </a:xfrm>
          <a:prstGeom prst="roundRect">
            <a:avLst>
              <a:gd name="adj" fmla="val 2304"/>
            </a:avLst>
          </a:prstGeom>
          <a:solidFill>
            <a:srgbClr val="14313B"/>
          </a:solidFill>
          <a:ln/>
        </p:spPr>
      </p:sp>
      <p:sp>
        <p:nvSpPr>
          <p:cNvPr id="5" name="Text 3"/>
          <p:cNvSpPr/>
          <p:nvPr/>
        </p:nvSpPr>
        <p:spPr>
          <a:xfrm>
            <a:off x="1041400" y="1661161"/>
            <a:ext cx="545747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D3C8"/>
                </a:solidFill>
                <a:latin typeface="IBM Plex Sans" pitchFamily="34" charset="0"/>
                <a:ea typeface="IBM Plex Sans" pitchFamily="34" charset="-122"/>
                <a:cs typeface="IBM Plex Sans" pitchFamily="34" charset="-120"/>
              </a:rPr>
              <a:t>store.py — 1 ligne par code ROME</a:t>
            </a:r>
            <a:endParaRPr lang="en-US" sz="1200" dirty="0"/>
          </a:p>
        </p:txBody>
      </p:sp>
      <p:sp>
        <p:nvSpPr>
          <p:cNvPr id="6" name="Text 4"/>
          <p:cNvSpPr/>
          <p:nvPr/>
        </p:nvSpPr>
        <p:spPr>
          <a:xfrm>
            <a:off x="1041400" y="1950721"/>
            <a:ext cx="5457475" cy="2082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SELECT code_rome,</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COUNT(*) AS nb_offres_total,</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COUNT(DISTINCT entreprise),</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AVG(contrat = 'CDI') * 100,</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 salaire médian (Python)</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nb_offres_total * 100.0</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 AVG(nb_offres_total) OVER ()</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AS indice_tension</a:t>
            </a:r>
            <a:endParaRPr lang="en-US" sz="1200" dirty="0"/>
          </a:p>
          <a:p>
            <a:pPr algn="l" indent="0" marL="0">
              <a:lnSpc>
                <a:spcPts val="1800"/>
              </a:lnSpc>
              <a:buNone/>
            </a:pPr>
            <a:r>
              <a:rPr lang="en-US" sz="1200" dirty="0">
                <a:solidFill>
                  <a:srgbClr val="E6EEF0"/>
                </a:solidFill>
                <a:latin typeface="JetBrains Mono" pitchFamily="34" charset="0"/>
                <a:ea typeface="JetBrains Mono" pitchFamily="34" charset="-122"/>
                <a:cs typeface="JetBrains Mono" pitchFamily="34" charset="-120"/>
              </a:rPr>
              <a:t>FROM offres GROUP BY code_rome</a:t>
            </a:r>
            <a:endParaRPr lang="en-US" sz="1200" dirty="0"/>
          </a:p>
        </p:txBody>
      </p:sp>
      <p:sp>
        <p:nvSpPr>
          <p:cNvPr id="7" name="Shape 5"/>
          <p:cNvSpPr/>
          <p:nvPr/>
        </p:nvSpPr>
        <p:spPr>
          <a:xfrm>
            <a:off x="6774894" y="1435736"/>
            <a:ext cx="4601131" cy="1428750"/>
          </a:xfrm>
          <a:prstGeom prst="roundRect">
            <a:avLst>
              <a:gd name="adj" fmla="val 6889"/>
            </a:avLst>
          </a:prstGeom>
          <a:solidFill>
            <a:srgbClr val="FDFEFE"/>
          </a:solidFill>
          <a:ln w="6350">
            <a:solidFill>
              <a:srgbClr val="DCE4E6"/>
            </a:solidFill>
            <a:prstDash val="solid"/>
          </a:ln>
        </p:spPr>
      </p:sp>
      <p:sp>
        <p:nvSpPr>
          <p:cNvPr id="8" name="Text 6"/>
          <p:cNvSpPr/>
          <p:nvPr/>
        </p:nvSpPr>
        <p:spPr>
          <a:xfrm>
            <a:off x="6980000" y="1640839"/>
            <a:ext cx="43166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Indice de tension (ITM)</a:t>
            </a:r>
            <a:endParaRPr lang="en-US" sz="1400" dirty="0"/>
          </a:p>
        </p:txBody>
      </p:sp>
      <p:sp>
        <p:nvSpPr>
          <p:cNvPr id="9" name="Text 7"/>
          <p:cNvSpPr/>
          <p:nvPr/>
        </p:nvSpPr>
        <p:spPr>
          <a:xfrm>
            <a:off x="6980000" y="1965961"/>
            <a:ext cx="431664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Offres du métier ÷ offres d’un métier moyen × 100. Mesure la pression des employeurs, pas le ratio offres / candidats.</a:t>
            </a:r>
            <a:endParaRPr lang="en-US" sz="1300" dirty="0"/>
          </a:p>
        </p:txBody>
      </p:sp>
      <p:sp>
        <p:nvSpPr>
          <p:cNvPr id="10" name="Text 8"/>
          <p:cNvSpPr/>
          <p:nvPr/>
        </p:nvSpPr>
        <p:spPr>
          <a:xfrm>
            <a:off x="6771719" y="2994661"/>
            <a:ext cx="2252901" cy="434340"/>
          </a:xfrm>
          <a:prstGeom prst="roundRect">
            <a:avLst>
              <a:gd name="adj" fmla="val 17544"/>
            </a:avLst>
          </a:prstGeom>
          <a:solidFill>
            <a:srgbClr val="E3E8EA"/>
          </a:solidFill>
          <a:ln/>
        </p:spPr>
        <p:txBody>
          <a:bodyPr wrap="square" lIns="104682" tIns="79282" rIns="44715"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Saturé &lt; 50 · </a:t>
            </a:r>
            <a:r>
              <a:rPr lang="en-US" sz="1300" b="1" dirty="0">
                <a:solidFill>
                  <a:srgbClr val="1B2B33"/>
                </a:solidFill>
                <a:latin typeface="IBM Plex Sans" pitchFamily="34" charset="0"/>
                <a:ea typeface="IBM Plex Sans" pitchFamily="34" charset="-122"/>
                <a:cs typeface="IBM Plex Sans" pitchFamily="34" charset="-120"/>
              </a:rPr>
              <a:t>714</a:t>
            </a:r>
            <a:endParaRPr lang="en-US" sz="1300" dirty="0"/>
          </a:p>
        </p:txBody>
      </p:sp>
      <p:sp>
        <p:nvSpPr>
          <p:cNvPr id="11" name="Text 9"/>
          <p:cNvSpPr/>
          <p:nvPr/>
        </p:nvSpPr>
        <p:spPr>
          <a:xfrm>
            <a:off x="9126220" y="2994661"/>
            <a:ext cx="2252980" cy="434340"/>
          </a:xfrm>
          <a:prstGeom prst="roundRect">
            <a:avLst>
              <a:gd name="adj" fmla="val 17544"/>
            </a:avLst>
          </a:prstGeom>
          <a:solidFill>
            <a:srgbClr val="DDEFEC"/>
          </a:solidFill>
          <a:ln/>
        </p:spPr>
        <p:txBody>
          <a:bodyPr wrap="square" lIns="104682" tIns="79282" rIns="44712"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Équilibré · </a:t>
            </a:r>
            <a:r>
              <a:rPr lang="en-US" sz="1300" b="1" dirty="0">
                <a:solidFill>
                  <a:srgbClr val="1B2B33"/>
                </a:solidFill>
                <a:latin typeface="IBM Plex Sans" pitchFamily="34" charset="0"/>
                <a:ea typeface="IBM Plex Sans" pitchFamily="34" charset="-122"/>
                <a:cs typeface="IBM Plex Sans" pitchFamily="34" charset="-120"/>
              </a:rPr>
              <a:t>148</a:t>
            </a:r>
            <a:endParaRPr lang="en-US" sz="1300" dirty="0"/>
          </a:p>
        </p:txBody>
      </p:sp>
      <p:sp>
        <p:nvSpPr>
          <p:cNvPr id="12" name="Text 10"/>
          <p:cNvSpPr/>
          <p:nvPr/>
        </p:nvSpPr>
        <p:spPr>
          <a:xfrm>
            <a:off x="6771719" y="3530600"/>
            <a:ext cx="2252901" cy="434340"/>
          </a:xfrm>
          <a:prstGeom prst="roundRect">
            <a:avLst>
              <a:gd name="adj" fmla="val 17544"/>
            </a:avLst>
          </a:prstGeom>
          <a:solidFill>
            <a:srgbClr val="F8E3D3"/>
          </a:solidFill>
          <a:ln/>
        </p:spPr>
        <p:txBody>
          <a:bodyPr wrap="square" lIns="104682" tIns="79282" rIns="44715" bIns="53882" rtlCol="0" anchor="t">
            <a:normAutofit/>
          </a:bodyPr>
          <a:lstStyle/>
          <a:p>
            <a:pPr algn="l" indent="0" marL="0">
              <a:lnSpc>
                <a:spcPts val="1820"/>
              </a:lnSpc>
              <a:buNone/>
            </a:pPr>
            <a:r>
              <a:rPr lang="en-US" sz="1300" dirty="0">
                <a:solidFill>
                  <a:srgbClr val="1B2B33"/>
                </a:solidFill>
                <a:latin typeface="IBM Plex Sans" pitchFamily="34" charset="0"/>
                <a:ea typeface="IBM Plex Sans" pitchFamily="34" charset="-122"/>
                <a:cs typeface="IBM Plex Sans" pitchFamily="34" charset="-120"/>
              </a:rPr>
              <a:t>En tension · </a:t>
            </a:r>
            <a:r>
              <a:rPr lang="en-US" sz="1300" b="1" dirty="0">
                <a:solidFill>
                  <a:srgbClr val="1B2B33"/>
                </a:solidFill>
                <a:latin typeface="IBM Plex Sans" pitchFamily="34" charset="0"/>
                <a:ea typeface="IBM Plex Sans" pitchFamily="34" charset="-122"/>
                <a:cs typeface="IBM Plex Sans" pitchFamily="34" charset="-120"/>
              </a:rPr>
              <a:t>53</a:t>
            </a:r>
            <a:endParaRPr lang="en-US" sz="1300" dirty="0"/>
          </a:p>
        </p:txBody>
      </p:sp>
      <p:sp>
        <p:nvSpPr>
          <p:cNvPr id="13" name="Text 11"/>
          <p:cNvSpPr/>
          <p:nvPr/>
        </p:nvSpPr>
        <p:spPr>
          <a:xfrm>
            <a:off x="9126220" y="3530600"/>
            <a:ext cx="2252980" cy="434340"/>
          </a:xfrm>
          <a:prstGeom prst="roundRect">
            <a:avLst>
              <a:gd name="adj" fmla="val 17544"/>
            </a:avLst>
          </a:prstGeom>
          <a:solidFill>
            <a:srgbClr val="9B2C2C"/>
          </a:solidFill>
          <a:ln/>
        </p:spPr>
        <p:txBody>
          <a:bodyPr wrap="square" lIns="104682" tIns="79282" rIns="44712" bIns="53882" rtlCol="0" anchor="t">
            <a:normAutofit/>
          </a:bodyPr>
          <a:lstStyle/>
          <a:p>
            <a:pPr algn="l" indent="0" marL="0">
              <a:lnSpc>
                <a:spcPts val="1820"/>
              </a:lnSpc>
              <a:buNone/>
            </a:pPr>
            <a:r>
              <a:rPr lang="en-US" sz="1300" dirty="0">
                <a:solidFill>
                  <a:srgbClr val="FBF3F3"/>
                </a:solidFill>
                <a:latin typeface="IBM Plex Sans" pitchFamily="34" charset="0"/>
                <a:ea typeface="IBM Plex Sans" pitchFamily="34" charset="-122"/>
                <a:cs typeface="IBM Plex Sans" pitchFamily="34" charset="-120"/>
              </a:rPr>
              <a:t>Très en tension · </a:t>
            </a:r>
            <a:r>
              <a:rPr lang="en-US" sz="1300" b="1" dirty="0">
                <a:solidFill>
                  <a:srgbClr val="FBF3F3"/>
                </a:solidFill>
                <a:latin typeface="IBM Plex Sans" pitchFamily="34" charset="0"/>
                <a:ea typeface="IBM Plex Sans" pitchFamily="34" charset="-122"/>
                <a:cs typeface="IBM Plex Sans" pitchFamily="34" charset="-120"/>
              </a:rPr>
              <a:t>185</a:t>
            </a:r>
            <a:endParaRPr lang="en-US" sz="1300" dirty="0"/>
          </a:p>
        </p:txBody>
      </p:sp>
      <p:sp>
        <p:nvSpPr>
          <p:cNvPr id="14" name="Text 12"/>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5" name="Text 13"/>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7288161"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Résultats : métiers et départements</a:t>
            </a:r>
            <a:endParaRPr lang="en-US" sz="3200" dirty="0"/>
          </a:p>
        </p:txBody>
      </p:sp>
      <p:sp>
        <p:nvSpPr>
          <p:cNvPr id="3" name="Text 1"/>
          <p:cNvSpPr/>
          <p:nvPr/>
        </p:nvSpPr>
        <p:spPr>
          <a:xfrm>
            <a:off x="10802700" y="769621"/>
            <a:ext cx="576501" cy="350520"/>
          </a:xfrm>
          <a:prstGeom prst="roundRect">
            <a:avLst>
              <a:gd name="adj" fmla="val 50000"/>
            </a:avLst>
          </a:prstGeom>
          <a:solidFill>
            <a:srgbClr val="6D3FC4"/>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C3</a:t>
            </a:r>
            <a:endParaRPr lang="en-US" sz="1400" dirty="0"/>
          </a:p>
        </p:txBody>
      </p:sp>
      <p:sp>
        <p:nvSpPr>
          <p:cNvPr id="4" name="Shape 2"/>
          <p:cNvSpPr/>
          <p:nvPr/>
        </p:nvSpPr>
        <p:spPr>
          <a:xfrm>
            <a:off x="812800" y="1381764"/>
            <a:ext cx="6223000" cy="3270250"/>
          </a:xfrm>
          <a:prstGeom prst="roundRect">
            <a:avLst>
              <a:gd name="adj" fmla="val 3107"/>
            </a:avLst>
          </a:prstGeom>
          <a:solidFill>
            <a:srgbClr val="FDFEFE"/>
          </a:solidFill>
          <a:ln/>
        </p:spPr>
      </p:sp>
      <p:pic>
        <p:nvPicPr>
          <p:cNvPr id="5" name="Image 0" descr="Barres horizontales : indice de tension des 10 premiers métiers, de M1805 Développeur (2 631) à H1206 Responsable de projet industriel (1 114)">    </p:cNvPr>
          <p:cNvPicPr>
            <a:picLocks noChangeAspect="1"/>
          </p:cNvPicPr>
          <p:nvPr/>
        </p:nvPicPr>
        <p:blipFill>
          <a:blip r:embed="rId1"/>
          <a:srcRect l="0" r="0" t="-49" b="-49"/>
          <a:stretch/>
        </p:blipFill>
        <p:spPr>
          <a:xfrm>
            <a:off x="812800" y="1381764"/>
            <a:ext cx="6223000" cy="3270250"/>
          </a:xfrm>
          <a:prstGeom prst="roundRect">
            <a:avLst>
              <a:gd name="adj" fmla="val 3107"/>
            </a:avLst>
          </a:prstGeom>
        </p:spPr>
      </p:pic>
      <p:sp>
        <p:nvSpPr>
          <p:cNvPr id="6" name="Shape 3"/>
          <p:cNvSpPr/>
          <p:nvPr/>
        </p:nvSpPr>
        <p:spPr>
          <a:xfrm>
            <a:off x="7289800" y="1381764"/>
            <a:ext cx="4064000" cy="3149600"/>
          </a:xfrm>
          <a:prstGeom prst="roundRect">
            <a:avLst>
              <a:gd name="adj" fmla="val 3226"/>
            </a:avLst>
          </a:prstGeom>
          <a:solidFill>
            <a:srgbClr val="FDFEFE"/>
          </a:solidFill>
          <a:ln/>
        </p:spPr>
      </p:sp>
      <p:pic>
        <p:nvPicPr>
          <p:cNvPr id="7" name="Image 1" descr="Carte des 8 départements d'Île-de-France colorés selon le nombre d'offres : Paris 4 042, Hauts-de-Seine 3 850, Yvelines 3 506, autres entre 3 249 et 3 430">    </p:cNvPr>
          <p:cNvPicPr>
            <a:picLocks noChangeAspect="1"/>
          </p:cNvPicPr>
          <p:nvPr/>
        </p:nvPicPr>
        <p:blipFill>
          <a:blip r:embed="rId2"/>
          <a:srcRect l="0" r="0" t="0" b="0"/>
          <a:stretch/>
        </p:blipFill>
        <p:spPr>
          <a:xfrm>
            <a:off x="7289800" y="1381764"/>
            <a:ext cx="4064000" cy="3149600"/>
          </a:xfrm>
          <a:prstGeom prst="roundRect">
            <a:avLst>
              <a:gd name="adj" fmla="val 3226"/>
            </a:avLst>
          </a:prstGeom>
        </p:spPr>
      </p:pic>
      <p:sp>
        <p:nvSpPr>
          <p:cNvPr id="8" name="Text 4"/>
          <p:cNvSpPr/>
          <p:nvPr/>
        </p:nvSpPr>
        <p:spPr>
          <a:xfrm>
            <a:off x="7289800" y="4632964"/>
            <a:ext cx="42120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Offres par département · contours du fichier GeoJSON (C1)</a:t>
            </a:r>
            <a:endParaRPr lang="en-US" sz="1200" dirty="0"/>
          </a:p>
        </p:txBody>
      </p:sp>
      <p:sp>
        <p:nvSpPr>
          <p:cNvPr id="9"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0"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955943"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C4 — Base de données SQLite</a:t>
            </a:r>
            <a:endParaRPr lang="en-US" sz="3200" dirty="0"/>
          </a:p>
        </p:txBody>
      </p:sp>
      <p:sp>
        <p:nvSpPr>
          <p:cNvPr id="3" name="Text 1"/>
          <p:cNvSpPr/>
          <p:nvPr/>
        </p:nvSpPr>
        <p:spPr>
          <a:xfrm>
            <a:off x="10802700" y="769621"/>
            <a:ext cx="576501" cy="350520"/>
          </a:xfrm>
          <a:prstGeom prst="roundRect">
            <a:avLst>
              <a:gd name="adj" fmla="val 50000"/>
            </a:avLst>
          </a:prstGeom>
          <a:solidFill>
            <a:srgbClr val="2E6BD8"/>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C4</a:t>
            </a:r>
            <a:endParaRPr lang="en-US" sz="1400" dirty="0"/>
          </a:p>
        </p:txBody>
      </p:sp>
      <p:sp>
        <p:nvSpPr>
          <p:cNvPr id="4" name="Shape 2"/>
          <p:cNvSpPr/>
          <p:nvPr/>
        </p:nvSpPr>
        <p:spPr>
          <a:xfrm>
            <a:off x="1841500" y="1356364"/>
            <a:ext cx="8509000" cy="3257550"/>
          </a:xfrm>
          <a:prstGeom prst="roundRect">
            <a:avLst>
              <a:gd name="adj" fmla="val 3119"/>
            </a:avLst>
          </a:prstGeom>
          <a:solidFill>
            <a:srgbClr val="FDFEFE"/>
          </a:solidFill>
          <a:ln/>
        </p:spPr>
      </p:sp>
      <p:pic>
        <p:nvPicPr>
          <p:cNvPr id="5" name="Image 0" descr="Modèle physique : tables departements (avec latitude, longitude et superficie issues du GeoJSON), metiers_rome, offres (clés étrangères vers les deux référentiels, hash_offre unique) et indicateurs_tension">    </p:cNvPr>
          <p:cNvPicPr>
            <a:picLocks noChangeAspect="1"/>
          </p:cNvPicPr>
          <p:nvPr/>
        </p:nvPicPr>
        <p:blipFill>
          <a:blip r:embed="rId1"/>
          <a:stretch>
            <a:fillRect/>
          </a:stretch>
        </p:blipFill>
        <p:spPr>
          <a:xfrm>
            <a:off x="2180675" y="1356364"/>
            <a:ext cx="7830649" cy="3257550"/>
          </a:xfrm>
          <a:prstGeom prst="rect">
            <a:avLst/>
          </a:prstGeom>
        </p:spPr>
      </p:pic>
      <p:sp>
        <p:nvSpPr>
          <p:cNvPr id="6" name="Shape 3"/>
          <p:cNvSpPr/>
          <p:nvPr/>
        </p:nvSpPr>
        <p:spPr>
          <a:xfrm>
            <a:off x="812800" y="4791714"/>
            <a:ext cx="3420507" cy="949960"/>
          </a:xfrm>
          <a:prstGeom prst="roundRect">
            <a:avLst>
              <a:gd name="adj" fmla="val 9358"/>
            </a:avLst>
          </a:prstGeom>
          <a:solidFill>
            <a:srgbClr val="E6EEFB"/>
          </a:solidFill>
          <a:ln/>
        </p:spPr>
      </p:sp>
      <p:sp>
        <p:nvSpPr>
          <p:cNvPr id="7" name="Text 4"/>
          <p:cNvSpPr/>
          <p:nvPr/>
        </p:nvSpPr>
        <p:spPr>
          <a:xfrm>
            <a:off x="990600" y="4918714"/>
            <a:ext cx="31568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Pourquoi SQLite</a:t>
            </a:r>
            <a:endParaRPr lang="en-US" sz="1300" dirty="0"/>
          </a:p>
        </p:txBody>
      </p:sp>
      <p:sp>
        <p:nvSpPr>
          <p:cNvPr id="8" name="Text 5"/>
          <p:cNvSpPr/>
          <p:nvPr/>
        </p:nvSpPr>
        <p:spPr>
          <a:xfrm>
            <a:off x="990600" y="5187950"/>
            <a:ext cx="31568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Relationnel, sans serveur, embarqué dans Docker</a:t>
            </a:r>
            <a:endParaRPr lang="en-US" sz="1200" dirty="0"/>
          </a:p>
        </p:txBody>
      </p:sp>
      <p:sp>
        <p:nvSpPr>
          <p:cNvPr id="9" name="Shape 6"/>
          <p:cNvSpPr/>
          <p:nvPr/>
        </p:nvSpPr>
        <p:spPr>
          <a:xfrm>
            <a:off x="4385707" y="4791714"/>
            <a:ext cx="3420586" cy="949960"/>
          </a:xfrm>
          <a:prstGeom prst="roundRect">
            <a:avLst>
              <a:gd name="adj" fmla="val 9358"/>
            </a:avLst>
          </a:prstGeom>
          <a:solidFill>
            <a:srgbClr val="E6EEFB"/>
          </a:solidFill>
          <a:ln/>
        </p:spPr>
      </p:sp>
      <p:sp>
        <p:nvSpPr>
          <p:cNvPr id="10" name="Text 7"/>
          <p:cNvSpPr/>
          <p:nvPr/>
        </p:nvSpPr>
        <p:spPr>
          <a:xfrm>
            <a:off x="4563507" y="4918714"/>
            <a:ext cx="31569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Intégrité</a:t>
            </a:r>
            <a:endParaRPr lang="en-US" sz="1300" dirty="0"/>
          </a:p>
        </p:txBody>
      </p:sp>
      <p:sp>
        <p:nvSpPr>
          <p:cNvPr id="11" name="Text 8"/>
          <p:cNvSpPr/>
          <p:nvPr/>
        </p:nvSpPr>
        <p:spPr>
          <a:xfrm>
            <a:off x="4563507" y="5187950"/>
            <a:ext cx="31569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FK, CHECK, UNIQUE, 6 index</a:t>
            </a:r>
            <a:endParaRPr lang="en-US" sz="1200" dirty="0"/>
          </a:p>
        </p:txBody>
      </p:sp>
      <p:sp>
        <p:nvSpPr>
          <p:cNvPr id="12" name="Shape 9"/>
          <p:cNvSpPr/>
          <p:nvPr/>
        </p:nvSpPr>
        <p:spPr>
          <a:xfrm>
            <a:off x="7958693" y="4791714"/>
            <a:ext cx="3420507" cy="949960"/>
          </a:xfrm>
          <a:prstGeom prst="roundRect">
            <a:avLst>
              <a:gd name="adj" fmla="val 9358"/>
            </a:avLst>
          </a:prstGeom>
          <a:solidFill>
            <a:srgbClr val="E6EEFB"/>
          </a:solidFill>
          <a:ln/>
        </p:spPr>
      </p:sp>
      <p:sp>
        <p:nvSpPr>
          <p:cNvPr id="13" name="Text 10"/>
          <p:cNvSpPr/>
          <p:nvPr/>
        </p:nvSpPr>
        <p:spPr>
          <a:xfrm>
            <a:off x="8136493" y="4918714"/>
            <a:ext cx="31568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4FA8"/>
                </a:solidFill>
                <a:latin typeface="IBM Plex Sans" pitchFamily="34" charset="0"/>
                <a:ea typeface="IBM Plex Sans" pitchFamily="34" charset="-122"/>
                <a:cs typeface="IBM Plex Sans" pitchFamily="34" charset="-120"/>
              </a:rPr>
              <a:t>RGPD</a:t>
            </a:r>
            <a:endParaRPr lang="en-US" sz="1300" dirty="0"/>
          </a:p>
        </p:txBody>
      </p:sp>
      <p:sp>
        <p:nvSpPr>
          <p:cNvPr id="14" name="Text 11"/>
          <p:cNvSpPr/>
          <p:nvPr/>
        </p:nvSpPr>
        <p:spPr>
          <a:xfrm>
            <a:off x="8136493" y="5187950"/>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54D"/>
                </a:solidFill>
                <a:latin typeface="IBM Plex Sans" pitchFamily="34" charset="0"/>
                <a:ea typeface="IBM Plex Sans" pitchFamily="34" charset="-122"/>
                <a:cs typeface="IBM Plex Sans" pitchFamily="34" charset="-120"/>
              </a:rPr>
              <a:t>Pseudonymisation, purge 12 mois, registre</a:t>
            </a:r>
            <a:endParaRPr lang="en-US" sz="1200" dirty="0"/>
          </a:p>
        </p:txBody>
      </p:sp>
      <p:sp>
        <p:nvSpPr>
          <p:cNvPr id="15" name="Text 12"/>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16" name="Text 13"/>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4388676"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C5 — API REST FastAPI</a:t>
            </a:r>
            <a:endParaRPr lang="en-US" sz="3200" dirty="0"/>
          </a:p>
        </p:txBody>
      </p:sp>
      <p:sp>
        <p:nvSpPr>
          <p:cNvPr id="3" name="Text 1"/>
          <p:cNvSpPr/>
          <p:nvPr/>
        </p:nvSpPr>
        <p:spPr>
          <a:xfrm>
            <a:off x="10802700" y="769621"/>
            <a:ext cx="576501" cy="350520"/>
          </a:xfrm>
          <a:prstGeom prst="roundRect">
            <a:avLst>
              <a:gd name="adj" fmla="val 50000"/>
            </a:avLst>
          </a:prstGeom>
          <a:solidFill>
            <a:srgbClr val="C65F1A"/>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C5</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417324"/>
          <a:ext cx="6339840" cy="2748280"/>
        </p:xfrm>
        <a:graphic>
          <a:graphicData uri="http://schemas.openxmlformats.org/drawingml/2006/table">
            <a:tbl>
              <a:tblPr/>
              <a:tblGrid>
                <a:gridCol w="2662733"/>
                <a:gridCol w="887578"/>
                <a:gridCol w="2789530"/>
              </a:tblGrid>
              <a:tr h="343535">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GET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Accès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9F4F18"/>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c>
                  <a:txBody>
                    <a:bodyPr/>
                    <a:lstStyle/>
                    <a:p>
                      <a:pPr indent="0" marL="0">
                        <a:lnSpc>
                          <a:spcPts val="1750"/>
                        </a:lnSpc>
                        <a:buNone/>
                      </a:pPr>
                      <a:r>
                        <a:rPr lang="en-US" sz="1250" b="1" dirty="0">
                          <a:solidFill>
                            <a:srgbClr val="F6F8F7"/>
                          </a:solidFill>
                          <a:latin typeface="IBM Plex Sans" pitchFamily="34" charset="0"/>
                          <a:ea typeface="IBM Plex Sans" pitchFamily="34" charset="-122"/>
                          <a:cs typeface="IBM Plex Sans" pitchFamily="34" charset="-120"/>
                        </a:rPr>
                        <a:t>Rôle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9F4F18"/>
                      </a:solidFill>
                      <a:prstDash val="solid"/>
                      <a:round/>
                      <a:headEnd type="none" w="med" len="med"/>
                      <a:tailEnd type="none" w="med" len="med"/>
                    </a:lnL>
                    <a:lnR w="12700" cap="flat" cmpd="sng" algn="ctr">
                      <a:solidFill>
                        <a:srgbClr val="9F4F18"/>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9F4F18"/>
                      </a:solidFill>
                      <a:prstDash val="solid"/>
                      <a:round/>
                      <a:headEnd type="none" w="med" len="med"/>
                      <a:tailEnd type="none" w="med" len="med"/>
                    </a:lnB>
                    <a:solidFill>
                      <a:srgbClr val="C65F1A"/>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/health</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Public</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Disponibilité, volumes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9F4F18"/>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/offres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Filtres + pagination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/offres/{id}</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Détail d’une offre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/metiers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Tension, filtre statut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/metiers/{code_rome}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Fiche métier</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/stats/departements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Densité, CDI, coordonnées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8BEB6"/>
                      </a:solidFill>
                      <a:prstDash val="solid"/>
                      <a:round/>
                      <a:headEnd type="none" w="med" len="med"/>
                      <a:tailEnd type="none" w="med" len="med"/>
                    </a:lnL>
                    <a:lnR w="12700" cap="flat" cmpd="sng" algn="ctr">
                      <a:solidFill>
                        <a:srgbClr val="C8BEB6"/>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8BEB6"/>
                      </a:solidFill>
                      <a:prstDash val="solid"/>
                      <a:round/>
                      <a:headEnd type="none" w="med" len="med"/>
                      <a:tailEnd type="none" w="med" len="med"/>
                    </a:lnB>
                    <a:solidFill>
                      <a:srgbClr val="FBEEE4"/>
                    </a:solidFill>
                  </a:tcPr>
                </a:tc>
              </a:tr>
              <a:tr h="343535">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/stats/tension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Clé</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indent="0" marL="0">
                        <a:lnSpc>
                          <a:spcPts val="1750"/>
                        </a:lnSpc>
                        <a:buNone/>
                      </a:pPr>
                      <a:r>
                        <a:rPr lang="en-US" sz="1250" dirty="0">
                          <a:solidFill>
                            <a:srgbClr val="1B2B33"/>
                          </a:solidFill>
                          <a:latin typeface="IBM Plex Sans" pitchFamily="34" charset="0"/>
                          <a:ea typeface="IBM Plex Sans" pitchFamily="34" charset="-122"/>
                          <a:cs typeface="IBM Plex Sans" pitchFamily="34" charset="-120"/>
                        </a:rPr>
                        <a:t>Métiers par statut</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8BEB6"/>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r>
            </a:tbl>
          </a:graphicData>
        </a:graphic>
      </p:graphicFrame>
      <p:sp>
        <p:nvSpPr>
          <p:cNvPr id="5" name="Shape 2"/>
          <p:cNvSpPr/>
          <p:nvPr/>
        </p:nvSpPr>
        <p:spPr>
          <a:xfrm>
            <a:off x="7369175" y="1410339"/>
            <a:ext cx="4006850" cy="4428490"/>
          </a:xfrm>
          <a:prstGeom prst="roundRect">
            <a:avLst>
              <a:gd name="adj" fmla="val 2456"/>
            </a:avLst>
          </a:prstGeom>
          <a:solidFill>
            <a:srgbClr val="FDFEFE"/>
          </a:solidFill>
          <a:ln w="6350">
            <a:solidFill>
              <a:srgbClr val="DCE4E6"/>
            </a:solidFill>
            <a:prstDash val="solid"/>
          </a:ln>
        </p:spPr>
      </p:sp>
      <p:sp>
        <p:nvSpPr>
          <p:cNvPr id="6" name="Text 3"/>
          <p:cNvSpPr/>
          <p:nvPr/>
        </p:nvSpPr>
        <p:spPr>
          <a:xfrm>
            <a:off x="7574280" y="1615442"/>
            <a:ext cx="37045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Sécurité</a:t>
            </a:r>
            <a:endParaRPr lang="en-US" sz="1400" dirty="0"/>
          </a:p>
        </p:txBody>
      </p:sp>
      <p:sp>
        <p:nvSpPr>
          <p:cNvPr id="7" name="Text 4"/>
          <p:cNvSpPr/>
          <p:nvPr/>
        </p:nvSpPr>
        <p:spPr>
          <a:xfrm>
            <a:off x="7574280" y="1953264"/>
            <a:ext cx="3704539" cy="1636713"/>
          </a:xfrm>
          <a:prstGeom prst="rect">
            <a:avLst/>
          </a:prstGeom>
          <a:noFill/>
          <a:ln/>
        </p:spPr>
        <p:txBody>
          <a:bodyPr wrap="square" lIns="0" tIns="0" rIns="0" bIns="0" rtlCol="0" anchor="t">
            <a:normAutofit/>
          </a:bodyPr>
          <a:lstStyle/>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X-API-Key → 403</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SQL paramétré</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Pydantic → 422</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limit ≤ 500</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GET seul → 405</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Base en lecture seule</a:t>
            </a:r>
            <a:endParaRPr lang="en-US" sz="1250" dirty="0"/>
          </a:p>
          <a:p>
            <a:pPr algn="l" marL="190500" indent="-161925">
              <a:lnSpc>
                <a:spcPts val="1813"/>
              </a:lnSpc>
              <a:buSzPct val="100000"/>
              <a:buChar char="•"/>
            </a:pPr>
            <a:r>
              <a:rPr lang="en-US" sz="1250" dirty="0">
                <a:solidFill>
                  <a:srgbClr val="33454D"/>
                </a:solidFill>
                <a:latin typeface="IBM Plex Sans" pitchFamily="34" charset="0"/>
                <a:ea typeface="IBM Plex Sans" pitchFamily="34" charset="-122"/>
                <a:cs typeface="IBM Plex Sans" pitchFamily="34" charset="-120"/>
              </a:rPr>
              <a:t>Docker, clé en secret</a:t>
            </a:r>
            <a:endParaRPr lang="en-US" sz="1250" dirty="0"/>
          </a:p>
        </p:txBody>
      </p:sp>
      <p:sp>
        <p:nvSpPr>
          <p:cNvPr id="8"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5087528"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C5 — Preuve d’exposition</a:t>
            </a:r>
            <a:endParaRPr lang="en-US" sz="3200" dirty="0"/>
          </a:p>
        </p:txBody>
      </p:sp>
      <p:sp>
        <p:nvSpPr>
          <p:cNvPr id="3" name="Text 1"/>
          <p:cNvSpPr/>
          <p:nvPr/>
        </p:nvSpPr>
        <p:spPr>
          <a:xfrm>
            <a:off x="10802700" y="769621"/>
            <a:ext cx="576501" cy="350520"/>
          </a:xfrm>
          <a:prstGeom prst="roundRect">
            <a:avLst>
              <a:gd name="adj" fmla="val 50000"/>
            </a:avLst>
          </a:prstGeom>
          <a:solidFill>
            <a:srgbClr val="C65F1A"/>
          </a:solidFill>
          <a:ln/>
        </p:spPr>
        <p:txBody>
          <a:bodyPr wrap="none" lIns="0" tIns="0" rIns="0" bIns="0" rtlCol="0" anchor="ctr">
            <a:normAutofit/>
          </a:bodyPr>
          <a:lstStyle/>
          <a:p>
            <a:pPr algn="ctr"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C5</a:t>
            </a:r>
            <a:endParaRPr lang="en-US" sz="1400" dirty="0"/>
          </a:p>
        </p:txBody>
      </p:sp>
      <p:sp>
        <p:nvSpPr>
          <p:cNvPr id="4" name="Shape 2"/>
          <p:cNvSpPr/>
          <p:nvPr/>
        </p:nvSpPr>
        <p:spPr>
          <a:xfrm>
            <a:off x="812800" y="1381764"/>
            <a:ext cx="4826000" cy="3784600"/>
          </a:xfrm>
          <a:prstGeom prst="roundRect">
            <a:avLst>
              <a:gd name="adj" fmla="val 2685"/>
            </a:avLst>
          </a:prstGeom>
          <a:solidFill>
            <a:srgbClr val="FDFEFE"/>
          </a:solidFill>
          <a:ln/>
        </p:spPr>
      </p:sp>
      <p:pic>
        <p:nvPicPr>
          <p:cNvPr id="5" name="Image 0" descr="Swagger UI de l'API PPMT : 7 endpoints GET regroupés en Service, Offres, Tension et Statistiques, bouton Authorize">    </p:cNvPr>
          <p:cNvPicPr>
            <a:picLocks noChangeAspect="1"/>
          </p:cNvPicPr>
          <p:nvPr/>
        </p:nvPicPr>
        <p:blipFill>
          <a:blip r:embed="rId1"/>
          <a:srcRect l="0" r="0" t="-20" b="-20"/>
          <a:stretch/>
        </p:blipFill>
        <p:spPr>
          <a:xfrm>
            <a:off x="819150" y="1388114"/>
            <a:ext cx="4813300" cy="3771900"/>
          </a:xfrm>
          <a:prstGeom prst="roundRect">
            <a:avLst>
              <a:gd name="adj" fmla="val 2525"/>
            </a:avLst>
          </a:prstGeom>
        </p:spPr>
      </p:pic>
      <p:sp>
        <p:nvSpPr>
          <p:cNvPr id="6" name="Shape 3"/>
          <p:cNvSpPr/>
          <p:nvPr/>
        </p:nvSpPr>
        <p:spPr>
          <a:xfrm>
            <a:off x="815975" y="1384939"/>
            <a:ext cx="4819650" cy="3778250"/>
          </a:xfrm>
          <a:prstGeom prst="roundRect">
            <a:avLst>
              <a:gd name="adj" fmla="val 2605"/>
            </a:avLst>
          </a:prstGeom>
          <a:noFill/>
          <a:ln w="6350">
            <a:solidFill>
              <a:srgbClr val="DCE4E6"/>
            </a:solidFill>
            <a:prstDash val="solid"/>
          </a:ln>
        </p:spPr>
      </p:sp>
      <p:sp>
        <p:nvSpPr>
          <p:cNvPr id="7" name="Text 4"/>
          <p:cNvSpPr/>
          <p:nvPr/>
        </p:nvSpPr>
        <p:spPr>
          <a:xfrm>
            <a:off x="5842000" y="1381764"/>
            <a:ext cx="5537200" cy="4460240"/>
          </a:xfrm>
          <a:prstGeom prst="roundRect">
            <a:avLst>
              <a:gd name="adj" fmla="val 2278"/>
            </a:avLst>
          </a:prstGeom>
          <a:solidFill>
            <a:srgbClr val="14313B"/>
          </a:solidFill>
          <a:ln/>
        </p:spPr>
        <p:txBody>
          <a:bodyPr wrap="square" lIns="173442" tIns="173442" rIns="19518" bIns="173442" rtlCol="0" anchor="t">
            <a:normAutofit/>
          </a:bodyPr>
          <a:lstStyle/>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/health</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"status":"ok", "nb_offres":28219</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/metiers </a:t>
            </a:r>
            <a:r>
              <a:rPr lang="en-US" sz="1200" dirty="0">
                <a:solidFill>
                  <a:srgbClr val="9FB3BA"/>
                </a:solidFill>
                <a:latin typeface="JetBrains Mono" pitchFamily="34" charset="0"/>
                <a:ea typeface="JetBrains Mono" pitchFamily="34" charset="-122"/>
                <a:cs typeface="JetBrains Mono" pitchFamily="34" charset="-120"/>
              </a:rPr>
              <a:t># sans clé</a:t>
            </a:r>
            <a:endParaRPr lang="en-US" sz="1200" dirty="0"/>
          </a:p>
          <a:p>
            <a:pPr algn="l" indent="0" marL="0">
              <a:lnSpc>
                <a:spcPts val="1740"/>
              </a:lnSpc>
              <a:buNone/>
            </a:pPr>
            <a:r>
              <a:rPr lang="en-US" sz="1200" dirty="0">
                <a:solidFill>
                  <a:srgbClr val="F2A36B"/>
                </a:solidFill>
                <a:latin typeface="JetBrains Mono" pitchFamily="34" charset="0"/>
                <a:ea typeface="JetBrains Mono" pitchFamily="34" charset="-122"/>
                <a:cs typeface="JetBrains Mono" pitchFamily="34" charset="-120"/>
              </a:rPr>
              <a:t>HTTP 403 Clé API invalide</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/offres?departement=13</a:t>
            </a:r>
            <a:endParaRPr lang="en-US" sz="1200" dirty="0"/>
          </a:p>
          <a:p>
            <a:pPr algn="l" indent="0" marL="0">
              <a:lnSpc>
                <a:spcPts val="1740"/>
              </a:lnSpc>
              <a:buNone/>
            </a:pPr>
            <a:r>
              <a:rPr lang="en-US" sz="1200" dirty="0">
                <a:solidFill>
                  <a:srgbClr val="F2A36B"/>
                </a:solidFill>
                <a:latin typeface="JetBrains Mono" pitchFamily="34" charset="0"/>
                <a:ea typeface="JetBrains Mono" pitchFamily="34" charset="-122"/>
                <a:cs typeface="JetBrains Mono" pitchFamily="34" charset="-120"/>
              </a:rPr>
              <a:t>HTTP 422 motif ^(75|77|…|95)$</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EF0"/>
                </a:solidFill>
                <a:latin typeface="JetBrains Mono" pitchFamily="34" charset="0"/>
                <a:ea typeface="JetBrains Mono" pitchFamily="34" charset="-122"/>
                <a:cs typeface="JetBrains Mono" pitchFamily="34" charset="-120"/>
              </a:rPr>
              <a:t>$ curl /metiers/K1304</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"indice_tension": 1907.2,</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"statut": "TRES EN TENSION",</a:t>
            </a:r>
            <a:endParaRPr lang="en-US" sz="1200" dirty="0"/>
          </a:p>
          <a:p>
            <a:pPr algn="l" indent="0" marL="0">
              <a:lnSpc>
                <a:spcPts val="1740"/>
              </a:lnSpc>
              <a:buNone/>
            </a:pPr>
            <a:r>
              <a:rPr lang="en-US" sz="1200" dirty="0">
                <a:solidFill>
                  <a:srgbClr val="8FD3C8"/>
                </a:solidFill>
                <a:latin typeface="JetBrains Mono" pitchFamily="34" charset="0"/>
                <a:ea typeface="JetBrains Mono" pitchFamily="34" charset="-122"/>
                <a:cs typeface="JetBrains Mono" pitchFamily="34" charset="-120"/>
              </a:rPr>
              <a:t>"salaire_median": 22074</a:t>
            </a:r>
            <a:endParaRPr lang="en-US" sz="1200" dirty="0"/>
          </a:p>
        </p:txBody>
      </p:sp>
      <p:sp>
        <p:nvSpPr>
          <p:cNvPr id="8" name="Text 5"/>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9" name="Text 6"/>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Tests et qualité : 57 tests pytest</a:t>
            </a:r>
            <a:endParaRPr lang="en-US" sz="3200" dirty="0"/>
          </a:p>
        </p:txBody>
      </p:sp>
      <p:sp>
        <p:nvSpPr>
          <p:cNvPr id="3" name="Shape 1"/>
          <p:cNvSpPr/>
          <p:nvPr/>
        </p:nvSpPr>
        <p:spPr>
          <a:xfrm>
            <a:off x="815975" y="1435739"/>
            <a:ext cx="2520950" cy="1985010"/>
          </a:xfrm>
          <a:prstGeom prst="roundRect">
            <a:avLst>
              <a:gd name="adj" fmla="val 4958"/>
            </a:avLst>
          </a:prstGeom>
          <a:solidFill>
            <a:srgbClr val="FDFEFE"/>
          </a:solidFill>
          <a:ln w="6350">
            <a:solidFill>
              <a:srgbClr val="DCE4E6"/>
            </a:solidFill>
            <a:prstDash val="solid"/>
          </a:ln>
        </p:spPr>
      </p:sp>
      <p:sp>
        <p:nvSpPr>
          <p:cNvPr id="4" name="Text 2"/>
          <p:cNvSpPr/>
          <p:nvPr/>
        </p:nvSpPr>
        <p:spPr>
          <a:xfrm>
            <a:off x="10210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F8577"/>
                </a:solidFill>
                <a:latin typeface="Space Grotesk" pitchFamily="34" charset="0"/>
                <a:ea typeface="Space Grotesk" pitchFamily="34" charset="-122"/>
                <a:cs typeface="Space Grotesk" pitchFamily="34" charset="-120"/>
              </a:rPr>
              <a:t>4</a:t>
            </a:r>
            <a:endParaRPr lang="en-US" sz="4400" dirty="0"/>
          </a:p>
        </p:txBody>
      </p:sp>
      <p:sp>
        <p:nvSpPr>
          <p:cNvPr id="5" name="Text 3"/>
          <p:cNvSpPr/>
          <p:nvPr/>
        </p:nvSpPr>
        <p:spPr>
          <a:xfrm>
            <a:off x="10210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C1 collecte</a:t>
            </a:r>
            <a:endParaRPr lang="en-US" sz="1400" dirty="0"/>
          </a:p>
        </p:txBody>
      </p:sp>
      <p:sp>
        <p:nvSpPr>
          <p:cNvPr id="6" name="Text 4"/>
          <p:cNvSpPr/>
          <p:nvPr/>
        </p:nvSpPr>
        <p:spPr>
          <a:xfrm>
            <a:off x="10210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API simulées : dernière page, plafond 3 150, reprise après 429</a:t>
            </a:r>
            <a:endParaRPr lang="en-US" sz="1200" dirty="0"/>
          </a:p>
        </p:txBody>
      </p:sp>
      <p:sp>
        <p:nvSpPr>
          <p:cNvPr id="7" name="Shape 5"/>
          <p:cNvSpPr/>
          <p:nvPr/>
        </p:nvSpPr>
        <p:spPr>
          <a:xfrm>
            <a:off x="3495675" y="1435739"/>
            <a:ext cx="2520950" cy="1985010"/>
          </a:xfrm>
          <a:prstGeom prst="roundRect">
            <a:avLst>
              <a:gd name="adj" fmla="val 4958"/>
            </a:avLst>
          </a:prstGeom>
          <a:solidFill>
            <a:srgbClr val="FDFEFE"/>
          </a:solidFill>
          <a:ln w="6350">
            <a:solidFill>
              <a:srgbClr val="DCE4E6"/>
            </a:solidFill>
            <a:prstDash val="solid"/>
          </a:ln>
        </p:spPr>
      </p:sp>
      <p:sp>
        <p:nvSpPr>
          <p:cNvPr id="8" name="Text 6"/>
          <p:cNvSpPr/>
          <p:nvPr/>
        </p:nvSpPr>
        <p:spPr>
          <a:xfrm>
            <a:off x="37007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6D3FC4"/>
                </a:solidFill>
                <a:latin typeface="Space Grotesk" pitchFamily="34" charset="0"/>
                <a:ea typeface="Space Grotesk" pitchFamily="34" charset="-122"/>
                <a:cs typeface="Space Grotesk" pitchFamily="34" charset="-120"/>
              </a:rPr>
              <a:t>31</a:t>
            </a:r>
            <a:endParaRPr lang="en-US" sz="4400" dirty="0"/>
          </a:p>
        </p:txBody>
      </p:sp>
      <p:sp>
        <p:nvSpPr>
          <p:cNvPr id="9" name="Text 7"/>
          <p:cNvSpPr/>
          <p:nvPr/>
        </p:nvSpPr>
        <p:spPr>
          <a:xfrm>
            <a:off x="37007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C2 / C3 règles</a:t>
            </a:r>
            <a:endParaRPr lang="en-US" sz="1400" dirty="0"/>
          </a:p>
        </p:txBody>
      </p:sp>
      <p:sp>
        <p:nvSpPr>
          <p:cNvPr id="10" name="Text 8"/>
          <p:cNvSpPr/>
          <p:nvPr/>
        </p:nvSpPr>
        <p:spPr>
          <a:xfrm>
            <a:off x="37007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Médianes, codes ROME, communes, contrats, RGPD, doublons</a:t>
            </a:r>
            <a:endParaRPr lang="en-US" sz="1200" dirty="0"/>
          </a:p>
        </p:txBody>
      </p:sp>
      <p:sp>
        <p:nvSpPr>
          <p:cNvPr id="11" name="Shape 9"/>
          <p:cNvSpPr/>
          <p:nvPr/>
        </p:nvSpPr>
        <p:spPr>
          <a:xfrm>
            <a:off x="6175375" y="1435739"/>
            <a:ext cx="2520950" cy="1985010"/>
          </a:xfrm>
          <a:prstGeom prst="roundRect">
            <a:avLst>
              <a:gd name="adj" fmla="val 4958"/>
            </a:avLst>
          </a:prstGeom>
          <a:solidFill>
            <a:srgbClr val="FDFEFE"/>
          </a:solidFill>
          <a:ln w="6350">
            <a:solidFill>
              <a:srgbClr val="DCE4E6"/>
            </a:solidFill>
            <a:prstDash val="solid"/>
          </a:ln>
        </p:spPr>
      </p:sp>
      <p:sp>
        <p:nvSpPr>
          <p:cNvPr id="12" name="Text 10"/>
          <p:cNvSpPr/>
          <p:nvPr/>
        </p:nvSpPr>
        <p:spPr>
          <a:xfrm>
            <a:off x="63804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E6BD8"/>
                </a:solidFill>
                <a:latin typeface="Space Grotesk" pitchFamily="34" charset="0"/>
                <a:ea typeface="Space Grotesk" pitchFamily="34" charset="-122"/>
                <a:cs typeface="Space Grotesk" pitchFamily="34" charset="-120"/>
              </a:rPr>
              <a:t>13</a:t>
            </a:r>
            <a:endParaRPr lang="en-US" sz="4400" dirty="0"/>
          </a:p>
        </p:txBody>
      </p:sp>
      <p:sp>
        <p:nvSpPr>
          <p:cNvPr id="13" name="Text 11"/>
          <p:cNvSpPr/>
          <p:nvPr/>
        </p:nvSpPr>
        <p:spPr>
          <a:xfrm>
            <a:off x="63804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C4 base</a:t>
            </a:r>
            <a:endParaRPr lang="en-US" sz="1400" dirty="0"/>
          </a:p>
        </p:txBody>
      </p:sp>
      <p:sp>
        <p:nvSpPr>
          <p:cNvPr id="14" name="Text 12"/>
          <p:cNvSpPr/>
          <p:nvPr/>
        </p:nvSpPr>
        <p:spPr>
          <a:xfrm>
            <a:off x="6380480" y="2575564"/>
            <a:ext cx="217406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Intégrité, zéro doublon, périmètre IDF, géolocalisation, aucune donnée personnelle</a:t>
            </a:r>
            <a:endParaRPr lang="en-US" sz="1200" dirty="0"/>
          </a:p>
        </p:txBody>
      </p:sp>
      <p:sp>
        <p:nvSpPr>
          <p:cNvPr id="15" name="Shape 13"/>
          <p:cNvSpPr/>
          <p:nvPr/>
        </p:nvSpPr>
        <p:spPr>
          <a:xfrm>
            <a:off x="8855075" y="1435739"/>
            <a:ext cx="2520950" cy="1985010"/>
          </a:xfrm>
          <a:prstGeom prst="roundRect">
            <a:avLst>
              <a:gd name="adj" fmla="val 4958"/>
            </a:avLst>
          </a:prstGeom>
          <a:solidFill>
            <a:srgbClr val="FDFEFE"/>
          </a:solidFill>
          <a:ln w="6350">
            <a:solidFill>
              <a:srgbClr val="DCE4E6"/>
            </a:solidFill>
            <a:prstDash val="solid"/>
          </a:ln>
        </p:spPr>
      </p:sp>
      <p:sp>
        <p:nvSpPr>
          <p:cNvPr id="16" name="Text 14"/>
          <p:cNvSpPr/>
          <p:nvPr/>
        </p:nvSpPr>
        <p:spPr>
          <a:xfrm>
            <a:off x="9060180" y="1640842"/>
            <a:ext cx="2174062"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65F1A"/>
                </a:solidFill>
                <a:latin typeface="Space Grotesk" pitchFamily="34" charset="0"/>
                <a:ea typeface="Space Grotesk" pitchFamily="34" charset="-122"/>
                <a:cs typeface="Space Grotesk" pitchFamily="34" charset="-120"/>
              </a:rPr>
              <a:t>9</a:t>
            </a:r>
            <a:endParaRPr lang="en-US" sz="4400" dirty="0"/>
          </a:p>
        </p:txBody>
      </p:sp>
      <p:sp>
        <p:nvSpPr>
          <p:cNvPr id="17" name="Text 15"/>
          <p:cNvSpPr/>
          <p:nvPr/>
        </p:nvSpPr>
        <p:spPr>
          <a:xfrm>
            <a:off x="9060180" y="2263142"/>
            <a:ext cx="217406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3B4A"/>
                </a:solidFill>
                <a:latin typeface="IBM Plex Sans" pitchFamily="34" charset="0"/>
                <a:ea typeface="IBM Plex Sans" pitchFamily="34" charset="-122"/>
                <a:cs typeface="IBM Plex Sans" pitchFamily="34" charset="-120"/>
              </a:rPr>
              <a:t>C5 API</a:t>
            </a:r>
            <a:endParaRPr lang="en-US" sz="1400" dirty="0"/>
          </a:p>
        </p:txBody>
      </p:sp>
      <p:sp>
        <p:nvSpPr>
          <p:cNvPr id="18" name="Text 16"/>
          <p:cNvSpPr/>
          <p:nvPr/>
        </p:nvSpPr>
        <p:spPr>
          <a:xfrm>
            <a:off x="9060180" y="2575564"/>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2"/>
                </a:solidFill>
                <a:latin typeface="IBM Plex Sans" pitchFamily="34" charset="0"/>
                <a:ea typeface="IBM Plex Sans" pitchFamily="34" charset="-122"/>
                <a:cs typeface="IBM Plex Sans" pitchFamily="34" charset="-120"/>
              </a:rPr>
              <a:t>403, 404, 405, 422, filtres, pagination</a:t>
            </a:r>
            <a:endParaRPr lang="en-US" sz="1200" dirty="0"/>
          </a:p>
        </p:txBody>
      </p:sp>
      <p:sp>
        <p:nvSpPr>
          <p:cNvPr id="19" name="Text 17"/>
          <p:cNvSpPr/>
          <p:nvPr/>
        </p:nvSpPr>
        <p:spPr>
          <a:xfrm>
            <a:off x="812800" y="3677921"/>
            <a:ext cx="10566400" cy="1149350"/>
          </a:xfrm>
          <a:prstGeom prst="roundRect">
            <a:avLst>
              <a:gd name="adj" fmla="val 8840"/>
            </a:avLst>
          </a:prstGeom>
          <a:solidFill>
            <a:srgbClr val="14313B"/>
          </a:solidFill>
          <a:ln/>
        </p:spPr>
        <p:txBody>
          <a:bodyPr wrap="square" lIns="224242" tIns="173442" rIns="0" bIns="148042" rtlCol="0" anchor="t">
            <a:normAutofit/>
          </a:bodyPr>
          <a:lstStyle/>
          <a:p>
            <a:pPr algn="l" indent="0" marL="0">
              <a:lnSpc>
                <a:spcPts val="1950"/>
              </a:lnSpc>
              <a:buNone/>
            </a:pPr>
            <a:r>
              <a:rPr lang="en-US" sz="1300" dirty="0">
                <a:solidFill>
                  <a:srgbClr val="E6EEF0"/>
                </a:solidFill>
                <a:latin typeface="JetBrains Mono" pitchFamily="34" charset="0"/>
                <a:ea typeface="JetBrains Mono" pitchFamily="34" charset="-122"/>
                <a:cs typeface="JetBrains Mono" pitchFamily="34" charset="-120"/>
              </a:rPr>
              <a:t>$ pytest tests/ -v</a:t>
            </a:r>
            <a:endParaRPr lang="en-US" sz="1300" dirty="0"/>
          </a:p>
          <a:p>
            <a:pPr algn="l" indent="0" marL="0">
              <a:lnSpc>
                <a:spcPts val="1950"/>
              </a:lnSpc>
              <a:buNone/>
            </a:pPr>
            <a:r>
              <a:rPr lang="en-US" sz="1300" dirty="0">
                <a:solidFill>
                  <a:srgbClr val="E6EEF0"/>
                </a:solidFill>
                <a:latin typeface="JetBrains Mono" pitchFamily="34" charset="0"/>
                <a:ea typeface="JetBrains Mono" pitchFamily="34" charset="-122"/>
                <a:cs typeface="JetBrains Mono" pitchFamily="34" charset="-120"/>
              </a:rPr>
              <a:t>…</a:t>
            </a:r>
            <a:endParaRPr lang="en-US" sz="1300" dirty="0"/>
          </a:p>
          <a:p>
            <a:pPr algn="l" indent="0" marL="0">
              <a:lnSpc>
                <a:spcPts val="1950"/>
              </a:lnSpc>
              <a:buNone/>
            </a:pPr>
            <a:r>
              <a:rPr lang="en-US" sz="1300" dirty="0">
                <a:solidFill>
                  <a:srgbClr val="8FD3C8"/>
                </a:solidFill>
                <a:latin typeface="JetBrains Mono" pitchFamily="34" charset="0"/>
                <a:ea typeface="JetBrains Mono" pitchFamily="34" charset="-122"/>
                <a:cs typeface="JetBrains Mono" pitchFamily="34" charset="-120"/>
              </a:rPr>
              <a:t>======== 57 passed in 3.57s ========</a:t>
            </a:r>
            <a:endParaRPr lang="en-US" sz="1300" dirty="0"/>
          </a:p>
        </p:txBody>
      </p:sp>
      <p:sp>
        <p:nvSpPr>
          <p:cNvPr id="20" name="Text 18"/>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1" name="Text 19"/>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7"/>
        </a:solidFill>
      </p:bgPr>
    </p:bg>
    <p:spTree>
      <p:nvGrpSpPr>
        <p:cNvPr id="1" name=""/>
        <p:cNvGrpSpPr/>
        <p:nvPr/>
      </p:nvGrpSpPr>
      <p:grpSpPr>
        <a:xfrm>
          <a:off x="0" y="0"/>
          <a:ext cx="0" cy="0"/>
          <a:chOff x="0" y="0"/>
          <a:chExt cx="0" cy="0"/>
        </a:xfrm>
      </p:grpSpPr>
      <p:sp>
        <p:nvSpPr>
          <p:cNvPr id="2" name="Text 0"/>
          <p:cNvSpPr/>
          <p:nvPr/>
        </p:nvSpPr>
        <p:spPr>
          <a:xfrm>
            <a:off x="812800" y="711200"/>
            <a:ext cx="9150651"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0E3B4A"/>
                </a:solidFill>
                <a:latin typeface="Space Grotesk" pitchFamily="34" charset="0"/>
                <a:ea typeface="Space Grotesk" pitchFamily="34" charset="-122"/>
                <a:cs typeface="Space Grotesk" pitchFamily="34" charset="-120"/>
              </a:rPr>
              <a:t>Ouverture ML : une fuite de données corrigée</a:t>
            </a:r>
            <a:endParaRPr lang="en-US" sz="3200" dirty="0"/>
          </a:p>
        </p:txBody>
      </p:sp>
      <p:sp>
        <p:nvSpPr>
          <p:cNvPr id="3" name="Text 1"/>
          <p:cNvSpPr/>
          <p:nvPr/>
        </p:nvSpPr>
        <p:spPr>
          <a:xfrm>
            <a:off x="10262870" y="778514"/>
            <a:ext cx="1116330" cy="332740"/>
          </a:xfrm>
          <a:prstGeom prst="roundRect">
            <a:avLst>
              <a:gd name="adj" fmla="val 50000"/>
            </a:avLst>
          </a:prstGeom>
          <a:solidFill>
            <a:srgbClr val="E3E8EA"/>
          </a:solidFill>
          <a:ln/>
        </p:spPr>
        <p:txBody>
          <a:bodyPr wrap="none" lIns="0" tIns="0" rIns="0" bIns="0" rtlCol="0" anchor="ctr">
            <a:normAutofit/>
          </a:bodyPr>
          <a:lstStyle/>
          <a:p>
            <a:pPr algn="ctr" indent="0" marL="0">
              <a:lnSpc>
                <a:spcPts val="1820"/>
              </a:lnSpc>
              <a:buNone/>
            </a:pPr>
            <a:r>
              <a:rPr lang="en-US" sz="1300" b="1" dirty="0">
                <a:solidFill>
                  <a:srgbClr val="4A5A62"/>
                </a:solidFill>
                <a:latin typeface="IBM Plex Sans" pitchFamily="34" charset="0"/>
                <a:ea typeface="IBM Plex Sans" pitchFamily="34" charset="-122"/>
                <a:cs typeface="IBM Plex Sans" pitchFamily="34" charset="-120"/>
              </a:rPr>
              <a:t>Hors BC01</a:t>
            </a:r>
            <a:endParaRPr lang="en-US" sz="1300" dirty="0"/>
          </a:p>
        </p:txBody>
      </p:sp>
      <p:sp>
        <p:nvSpPr>
          <p:cNvPr id="4" name="Shape 2"/>
          <p:cNvSpPr/>
          <p:nvPr/>
        </p:nvSpPr>
        <p:spPr>
          <a:xfrm>
            <a:off x="815975" y="1435739"/>
            <a:ext cx="4751308" cy="4403090"/>
          </a:xfrm>
          <a:prstGeom prst="roundRect">
            <a:avLst>
              <a:gd name="adj" fmla="val 2235"/>
            </a:avLst>
          </a:prstGeom>
          <a:solidFill>
            <a:srgbClr val="FDFEFE"/>
          </a:solidFill>
          <a:ln w="6350">
            <a:solidFill>
              <a:srgbClr val="DCE4E6"/>
            </a:solidFill>
            <a:prstDash val="solid"/>
          </a:ln>
        </p:spPr>
      </p:sp>
      <p:sp>
        <p:nvSpPr>
          <p:cNvPr id="5" name="Text 3"/>
          <p:cNvSpPr/>
          <p:nvPr/>
        </p:nvSpPr>
        <p:spPr>
          <a:xfrm>
            <a:off x="1071880" y="1691642"/>
            <a:ext cx="436668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V1 — RÉGRESSION DE L’ITM</a:t>
            </a:r>
            <a:endParaRPr lang="en-US" sz="1300" dirty="0"/>
          </a:p>
        </p:txBody>
      </p:sp>
      <p:sp>
        <p:nvSpPr>
          <p:cNvPr id="6" name="Text 4"/>
          <p:cNvSpPr/>
          <p:nvPr/>
        </p:nvSpPr>
        <p:spPr>
          <a:xfrm>
            <a:off x="1071880" y="2024379"/>
            <a:ext cx="43666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B2C2C"/>
                </a:solidFill>
                <a:latin typeface="Space Grotesk" pitchFamily="34" charset="0"/>
                <a:ea typeface="Space Grotesk" pitchFamily="34" charset="-122"/>
                <a:cs typeface="Space Grotesk" pitchFamily="34" charset="-120"/>
              </a:rPr>
              <a:t>R² = 0,995</a:t>
            </a:r>
            <a:endParaRPr lang="en-US" sz="4800" dirty="0"/>
          </a:p>
        </p:txBody>
      </p:sp>
      <p:sp>
        <p:nvSpPr>
          <p:cNvPr id="7" name="Text 5"/>
          <p:cNvSpPr/>
          <p:nvPr/>
        </p:nvSpPr>
        <p:spPr>
          <a:xfrm>
            <a:off x="1071880" y="2735579"/>
            <a:ext cx="436668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54D"/>
                </a:solidFill>
                <a:latin typeface="IBM Plex Sans" pitchFamily="34" charset="0"/>
                <a:ea typeface="IBM Plex Sans" pitchFamily="34" charset="-122"/>
                <a:cs typeface="IBM Plex Sans" pitchFamily="34" charset="-120"/>
              </a:rPr>
              <a:t>Variables : nombres d’offres. Or l’ITM est calculé à partir de ces nombres : le modèle retrouve une formule.</a:t>
            </a:r>
            <a:endParaRPr lang="en-US" sz="1400" dirty="0"/>
          </a:p>
        </p:txBody>
      </p:sp>
      <p:sp>
        <p:nvSpPr>
          <p:cNvPr id="8" name="Text 6"/>
          <p:cNvSpPr/>
          <p:nvPr/>
        </p:nvSpPr>
        <p:spPr>
          <a:xfrm>
            <a:off x="1071880" y="3583942"/>
            <a:ext cx="43666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B2C2C"/>
                </a:solidFill>
                <a:latin typeface="IBM Plex Sans" pitchFamily="34" charset="0"/>
                <a:ea typeface="IBM Plex Sans" pitchFamily="34" charset="-122"/>
                <a:cs typeface="IBM Plex Sans" pitchFamily="34" charset="-120"/>
              </a:rPr>
              <a:t>Écarté : fuite de données</a:t>
            </a:r>
            <a:endParaRPr lang="en-US" sz="1400" dirty="0"/>
          </a:p>
        </p:txBody>
      </p:sp>
      <p:sp>
        <p:nvSpPr>
          <p:cNvPr id="9" name="Shape 7"/>
          <p:cNvSpPr/>
          <p:nvPr/>
        </p:nvSpPr>
        <p:spPr>
          <a:xfrm>
            <a:off x="5776833" y="1435739"/>
            <a:ext cx="5599192" cy="4403090"/>
          </a:xfrm>
          <a:prstGeom prst="roundRect">
            <a:avLst>
              <a:gd name="adj" fmla="val 2235"/>
            </a:avLst>
          </a:prstGeom>
          <a:solidFill>
            <a:srgbClr val="FDFEFE"/>
          </a:solidFill>
          <a:ln w="6350">
            <a:solidFill>
              <a:srgbClr val="DCE4E6"/>
            </a:solidFill>
            <a:prstDash val="solid"/>
          </a:ln>
        </p:spPr>
      </p:sp>
      <p:sp>
        <p:nvSpPr>
          <p:cNvPr id="10" name="Text 8"/>
          <p:cNvSpPr/>
          <p:nvPr/>
        </p:nvSpPr>
        <p:spPr>
          <a:xfrm>
            <a:off x="6032738" y="1691642"/>
            <a:ext cx="524000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B7F87"/>
                </a:solidFill>
                <a:latin typeface="IBM Plex Sans" pitchFamily="34" charset="0"/>
                <a:ea typeface="IBM Plex Sans" pitchFamily="34" charset="-122"/>
                <a:cs typeface="IBM Plex Sans" pitchFamily="34" charset="-120"/>
              </a:rPr>
              <a:t>V2 — « EN TENSION » D’APRÈS LE PROFIL DES OFFRES</a:t>
            </a:r>
            <a:endParaRPr lang="en-US" sz="1300" dirty="0"/>
          </a:p>
        </p:txBody>
      </p:sp>
      <p:sp>
        <p:nvSpPr>
          <p:cNvPr id="11" name="Text 9"/>
          <p:cNvSpPr/>
          <p:nvPr/>
        </p:nvSpPr>
        <p:spPr>
          <a:xfrm>
            <a:off x="6032738" y="2037079"/>
            <a:ext cx="52400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446 métiers ≥ 10 offres · sans variable de volume · validation croisée 5 plis · ROC-AUC</a:t>
            </a:r>
            <a:endParaRPr lang="en-US" sz="1300" dirty="0"/>
          </a:p>
        </p:txBody>
      </p:sp>
      <p:sp>
        <p:nvSpPr>
          <p:cNvPr id="12" name="Text 10"/>
          <p:cNvSpPr/>
          <p:nvPr/>
        </p:nvSpPr>
        <p:spPr>
          <a:xfrm>
            <a:off x="6032738" y="2625092"/>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Régression log.</a:t>
            </a:r>
            <a:endParaRPr lang="en-US" sz="1300" dirty="0"/>
          </a:p>
        </p:txBody>
      </p:sp>
      <p:sp>
        <p:nvSpPr>
          <p:cNvPr id="13" name="Shape 11"/>
          <p:cNvSpPr/>
          <p:nvPr/>
        </p:nvSpPr>
        <p:spPr>
          <a:xfrm>
            <a:off x="8039338" y="2613664"/>
            <a:ext cx="1841500" cy="254000"/>
          </a:xfrm>
          <a:prstGeom prst="roundRect">
            <a:avLst>
              <a:gd name="adj" fmla="val 15000"/>
            </a:avLst>
          </a:prstGeom>
          <a:solidFill>
            <a:srgbClr val="8E6FD6"/>
          </a:solidFill>
          <a:ln/>
        </p:spPr>
      </p:sp>
      <p:sp>
        <p:nvSpPr>
          <p:cNvPr id="14" name="Text 12"/>
          <p:cNvSpPr/>
          <p:nvPr/>
        </p:nvSpPr>
        <p:spPr>
          <a:xfrm>
            <a:off x="9982438" y="2625092"/>
            <a:ext cx="39290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0,58</a:t>
            </a:r>
            <a:endParaRPr lang="en-US" sz="1300" dirty="0"/>
          </a:p>
        </p:txBody>
      </p:sp>
      <p:sp>
        <p:nvSpPr>
          <p:cNvPr id="15" name="Text 13"/>
          <p:cNvSpPr/>
          <p:nvPr/>
        </p:nvSpPr>
        <p:spPr>
          <a:xfrm>
            <a:off x="6032738" y="2967992"/>
            <a:ext cx="19621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Random Forest</a:t>
            </a:r>
            <a:endParaRPr lang="en-US" sz="1300" dirty="0"/>
          </a:p>
        </p:txBody>
      </p:sp>
      <p:sp>
        <p:nvSpPr>
          <p:cNvPr id="16" name="Shape 14"/>
          <p:cNvSpPr/>
          <p:nvPr/>
        </p:nvSpPr>
        <p:spPr>
          <a:xfrm>
            <a:off x="8039338" y="2956564"/>
            <a:ext cx="2603500" cy="254000"/>
          </a:xfrm>
          <a:prstGeom prst="roundRect">
            <a:avLst>
              <a:gd name="adj" fmla="val 15000"/>
            </a:avLst>
          </a:prstGeom>
          <a:solidFill>
            <a:srgbClr val="1F6F8B"/>
          </a:solidFill>
          <a:ln/>
        </p:spPr>
      </p:sp>
      <p:sp>
        <p:nvSpPr>
          <p:cNvPr id="17" name="Text 15"/>
          <p:cNvSpPr/>
          <p:nvPr/>
        </p:nvSpPr>
        <p:spPr>
          <a:xfrm>
            <a:off x="10744438" y="2967992"/>
            <a:ext cx="39290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0,82</a:t>
            </a:r>
            <a:endParaRPr lang="en-US" sz="1300" dirty="0"/>
          </a:p>
        </p:txBody>
      </p:sp>
      <p:sp>
        <p:nvSpPr>
          <p:cNvPr id="18" name="Text 16"/>
          <p:cNvSpPr/>
          <p:nvPr/>
        </p:nvSpPr>
        <p:spPr>
          <a:xfrm>
            <a:off x="6032738" y="3415029"/>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3B4A"/>
                </a:solidFill>
                <a:latin typeface="IBM Plex Sans" pitchFamily="34" charset="0"/>
                <a:ea typeface="IBM Plex Sans" pitchFamily="34" charset="-122"/>
                <a:cs typeface="IBM Plex Sans" pitchFamily="34" charset="-120"/>
              </a:rPr>
              <a:t>XGBoost · retenu</a:t>
            </a:r>
            <a:endParaRPr lang="en-US" sz="1300" dirty="0"/>
          </a:p>
        </p:txBody>
      </p:sp>
      <p:sp>
        <p:nvSpPr>
          <p:cNvPr id="19" name="Shape 17"/>
          <p:cNvSpPr/>
          <p:nvPr/>
        </p:nvSpPr>
        <p:spPr>
          <a:xfrm>
            <a:off x="8039338" y="3403600"/>
            <a:ext cx="2679700" cy="254000"/>
          </a:xfrm>
          <a:prstGeom prst="roundRect">
            <a:avLst>
              <a:gd name="adj" fmla="val 15000"/>
            </a:avLst>
          </a:prstGeom>
          <a:solidFill>
            <a:srgbClr val="0E3B4A"/>
          </a:solidFill>
          <a:ln/>
        </p:spPr>
      </p:sp>
      <p:sp>
        <p:nvSpPr>
          <p:cNvPr id="20" name="Text 18"/>
          <p:cNvSpPr/>
          <p:nvPr/>
        </p:nvSpPr>
        <p:spPr>
          <a:xfrm>
            <a:off x="10820638" y="3299464"/>
            <a:ext cx="350282"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3B4A"/>
                </a:solidFill>
                <a:latin typeface="IBM Plex Sans" pitchFamily="34" charset="0"/>
                <a:ea typeface="IBM Plex Sans" pitchFamily="34" charset="-122"/>
                <a:cs typeface="IBM Plex Sans" pitchFamily="34" charset="-120"/>
              </a:rPr>
              <a:t>0,84</a:t>
            </a:r>
            <a:endParaRPr lang="en-US" sz="1300" dirty="0"/>
          </a:p>
        </p:txBody>
      </p:sp>
      <p:sp>
        <p:nvSpPr>
          <p:cNvPr id="21" name="Text 19"/>
          <p:cNvSpPr/>
          <p:nvPr/>
        </p:nvSpPr>
        <p:spPr>
          <a:xfrm>
            <a:off x="6032738" y="3876042"/>
            <a:ext cx="52400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54D"/>
                </a:solidFill>
                <a:latin typeface="IBM Plex Sans" pitchFamily="34" charset="0"/>
                <a:ea typeface="IBM Plex Sans" pitchFamily="34" charset="-122"/>
                <a:cs typeface="IBM Plex Sans" pitchFamily="34" charset="-120"/>
              </a:rPr>
              <a:t>Au hasard : 0,5. Les métiers en tension publient des annonces plus courtes et recrutent plus en intérim, CDD et temps partiel.</a:t>
            </a:r>
            <a:endParaRPr lang="en-US" sz="1300" dirty="0"/>
          </a:p>
        </p:txBody>
      </p:sp>
      <p:sp>
        <p:nvSpPr>
          <p:cNvPr id="22" name="Text 20"/>
          <p:cNvSpPr/>
          <p:nvPr/>
        </p:nvSpPr>
        <p:spPr>
          <a:xfrm>
            <a:off x="812800" y="62890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PPMT · Claire Lucie DIOUF · RNCP37827BC01</a:t>
            </a:r>
            <a:endParaRPr lang="en-US" sz="1200" dirty="0"/>
          </a:p>
        </p:txBody>
      </p:sp>
      <p:sp>
        <p:nvSpPr>
          <p:cNvPr id="23" name="Text 21"/>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F87"/>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3B4A"/>
        </a:solidFill>
      </p:bgPr>
    </p:bg>
    <p:spTree>
      <p:nvGrpSpPr>
        <p:cNvPr id="1" name=""/>
        <p:cNvGrpSpPr/>
        <p:nvPr/>
      </p:nvGrpSpPr>
      <p:grpSpPr>
        <a:xfrm>
          <a:off x="0" y="0"/>
          <a:ext cx="0" cy="0"/>
          <a:chOff x="0" y="0"/>
          <a:chExt cx="0" cy="0"/>
        </a:xfrm>
      </p:grpSpPr>
      <p:sp>
        <p:nvSpPr>
          <p:cNvPr id="2" name="Text 0"/>
          <p:cNvSpPr/>
          <p:nvPr/>
        </p:nvSpPr>
        <p:spPr>
          <a:xfrm>
            <a:off x="812800" y="7112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8F7"/>
                </a:solidFill>
                <a:latin typeface="Space Grotesk" pitchFamily="34" charset="0"/>
                <a:ea typeface="Space Grotesk" pitchFamily="34" charset="-122"/>
                <a:cs typeface="Space Grotesk" pitchFamily="34" charset="-120"/>
              </a:rPr>
              <a:t>Bilan et perspectives</a:t>
            </a:r>
            <a:endParaRPr lang="en-US" sz="3200" dirty="0"/>
          </a:p>
        </p:txBody>
      </p:sp>
      <p:sp>
        <p:nvSpPr>
          <p:cNvPr id="3" name="Text 1"/>
          <p:cNvSpPr/>
          <p:nvPr/>
        </p:nvSpPr>
        <p:spPr>
          <a:xfrm>
            <a:off x="81280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28 219</a:t>
            </a:r>
            <a:endParaRPr lang="en-US" sz="3600" dirty="0"/>
          </a:p>
        </p:txBody>
      </p:sp>
      <p:sp>
        <p:nvSpPr>
          <p:cNvPr id="4" name="Text 2"/>
          <p:cNvSpPr/>
          <p:nvPr/>
        </p:nvSpPr>
        <p:spPr>
          <a:xfrm>
            <a:off x="81280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offres en base</a:t>
            </a:r>
            <a:endParaRPr lang="en-US" sz="1300" dirty="0"/>
          </a:p>
        </p:txBody>
      </p:sp>
      <p:sp>
        <p:nvSpPr>
          <p:cNvPr id="5" name="Text 3"/>
          <p:cNvSpPr/>
          <p:nvPr/>
        </p:nvSpPr>
        <p:spPr>
          <a:xfrm>
            <a:off x="295656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4</a:t>
            </a:r>
            <a:endParaRPr lang="en-US" sz="3600" dirty="0"/>
          </a:p>
        </p:txBody>
      </p:sp>
      <p:sp>
        <p:nvSpPr>
          <p:cNvPr id="6" name="Text 4"/>
          <p:cNvSpPr/>
          <p:nvPr/>
        </p:nvSpPr>
        <p:spPr>
          <a:xfrm>
            <a:off x="295656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sources, 2 API</a:t>
            </a:r>
            <a:endParaRPr lang="en-US" sz="1300" dirty="0"/>
          </a:p>
        </p:txBody>
      </p:sp>
      <p:sp>
        <p:nvSpPr>
          <p:cNvPr id="7" name="Text 5"/>
          <p:cNvSpPr/>
          <p:nvPr/>
        </p:nvSpPr>
        <p:spPr>
          <a:xfrm>
            <a:off x="510032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7</a:t>
            </a:r>
            <a:endParaRPr lang="en-US" sz="3600" dirty="0"/>
          </a:p>
        </p:txBody>
      </p:sp>
      <p:sp>
        <p:nvSpPr>
          <p:cNvPr id="8" name="Text 6"/>
          <p:cNvSpPr/>
          <p:nvPr/>
        </p:nvSpPr>
        <p:spPr>
          <a:xfrm>
            <a:off x="510032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endpoints API</a:t>
            </a:r>
            <a:endParaRPr lang="en-US" sz="1300" dirty="0"/>
          </a:p>
        </p:txBody>
      </p:sp>
      <p:sp>
        <p:nvSpPr>
          <p:cNvPr id="9" name="Text 7"/>
          <p:cNvSpPr/>
          <p:nvPr/>
        </p:nvSpPr>
        <p:spPr>
          <a:xfrm>
            <a:off x="724408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57</a:t>
            </a:r>
            <a:endParaRPr lang="en-US" sz="3600" dirty="0"/>
          </a:p>
        </p:txBody>
      </p:sp>
      <p:sp>
        <p:nvSpPr>
          <p:cNvPr id="10" name="Text 8"/>
          <p:cNvSpPr/>
          <p:nvPr/>
        </p:nvSpPr>
        <p:spPr>
          <a:xfrm>
            <a:off x="724408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tests réussis</a:t>
            </a:r>
            <a:endParaRPr lang="en-US" sz="1300" dirty="0"/>
          </a:p>
        </p:txBody>
      </p:sp>
      <p:sp>
        <p:nvSpPr>
          <p:cNvPr id="11" name="Text 9"/>
          <p:cNvSpPr/>
          <p:nvPr/>
        </p:nvSpPr>
        <p:spPr>
          <a:xfrm>
            <a:off x="9387840" y="1432564"/>
            <a:ext cx="205110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8A06A"/>
                </a:solidFill>
                <a:latin typeface="Space Grotesk" pitchFamily="34" charset="0"/>
                <a:ea typeface="Space Grotesk" pitchFamily="34" charset="-122"/>
                <a:cs typeface="Space Grotesk" pitchFamily="34" charset="-120"/>
              </a:rPr>
              <a:t>≈ 5 s</a:t>
            </a:r>
            <a:endParaRPr lang="en-US" sz="3600" dirty="0"/>
          </a:p>
        </p:txBody>
      </p:sp>
      <p:sp>
        <p:nvSpPr>
          <p:cNvPr id="12" name="Text 10"/>
          <p:cNvSpPr/>
          <p:nvPr/>
        </p:nvSpPr>
        <p:spPr>
          <a:xfrm>
            <a:off x="9387840" y="1927864"/>
            <a:ext cx="20511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8D5"/>
                </a:solidFill>
                <a:latin typeface="IBM Plex Sans" pitchFamily="34" charset="0"/>
                <a:ea typeface="IBM Plex Sans" pitchFamily="34" charset="-122"/>
                <a:cs typeface="IBM Plex Sans" pitchFamily="34" charset="-120"/>
              </a:rPr>
              <a:t>pipeline hors collecte</a:t>
            </a:r>
            <a:endParaRPr lang="en-US" sz="1300" dirty="0"/>
          </a:p>
        </p:txBody>
      </p:sp>
      <p:sp>
        <p:nvSpPr>
          <p:cNvPr id="13" name="Shape 11"/>
          <p:cNvSpPr/>
          <p:nvPr/>
        </p:nvSpPr>
        <p:spPr>
          <a:xfrm>
            <a:off x="812800" y="2413000"/>
            <a:ext cx="5219700" cy="805180"/>
          </a:xfrm>
          <a:prstGeom prst="roundRect">
            <a:avLst>
              <a:gd name="adj" fmla="val 11041"/>
            </a:avLst>
          </a:prstGeom>
          <a:solidFill>
            <a:srgbClr val="174C5C"/>
          </a:solidFill>
          <a:ln/>
        </p:spPr>
      </p:sp>
      <p:sp>
        <p:nvSpPr>
          <p:cNvPr id="14" name="Text 12"/>
          <p:cNvSpPr/>
          <p:nvPr/>
        </p:nvSpPr>
        <p:spPr>
          <a:xfrm>
            <a:off x="990600" y="2565400"/>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Offre / demande</a:t>
            </a:r>
            <a:endParaRPr lang="en-US" sz="1400" dirty="0"/>
          </a:p>
        </p:txBody>
      </p:sp>
      <p:sp>
        <p:nvSpPr>
          <p:cNvPr id="15" name="Text 13"/>
          <p:cNvSpPr/>
          <p:nvPr/>
        </p:nvSpPr>
        <p:spPr>
          <a:xfrm>
            <a:off x="990600" y="2852421"/>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Demandeurs d’emploi par code ROME → vrai ratio de tension</a:t>
            </a:r>
            <a:endParaRPr lang="en-US" sz="1200" dirty="0"/>
          </a:p>
        </p:txBody>
      </p:sp>
      <p:sp>
        <p:nvSpPr>
          <p:cNvPr id="16" name="Shape 14"/>
          <p:cNvSpPr/>
          <p:nvPr/>
        </p:nvSpPr>
        <p:spPr>
          <a:xfrm>
            <a:off x="6159500" y="2413000"/>
            <a:ext cx="5219700" cy="805180"/>
          </a:xfrm>
          <a:prstGeom prst="roundRect">
            <a:avLst>
              <a:gd name="adj" fmla="val 11041"/>
            </a:avLst>
          </a:prstGeom>
          <a:solidFill>
            <a:srgbClr val="174C5C"/>
          </a:solidFill>
          <a:ln/>
        </p:spPr>
      </p:sp>
      <p:sp>
        <p:nvSpPr>
          <p:cNvPr id="17" name="Text 15"/>
          <p:cNvSpPr/>
          <p:nvPr/>
        </p:nvSpPr>
        <p:spPr>
          <a:xfrm>
            <a:off x="6337300" y="2565400"/>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Historisation</a:t>
            </a:r>
            <a:endParaRPr lang="en-US" sz="1400" dirty="0"/>
          </a:p>
        </p:txBody>
      </p:sp>
      <p:sp>
        <p:nvSpPr>
          <p:cNvPr id="18" name="Text 16"/>
          <p:cNvSpPr/>
          <p:nvPr/>
        </p:nvSpPr>
        <p:spPr>
          <a:xfrm>
            <a:off x="6337300" y="2852421"/>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Instantanés quotidiens → prévision à 3 mois</a:t>
            </a:r>
            <a:endParaRPr lang="en-US" sz="1200" dirty="0"/>
          </a:p>
        </p:txBody>
      </p:sp>
      <p:sp>
        <p:nvSpPr>
          <p:cNvPr id="19" name="Shape 17"/>
          <p:cNvSpPr/>
          <p:nvPr/>
        </p:nvSpPr>
        <p:spPr>
          <a:xfrm>
            <a:off x="812800" y="3345179"/>
            <a:ext cx="5219700" cy="805180"/>
          </a:xfrm>
          <a:prstGeom prst="roundRect">
            <a:avLst>
              <a:gd name="adj" fmla="val 11041"/>
            </a:avLst>
          </a:prstGeom>
          <a:solidFill>
            <a:srgbClr val="174C5C"/>
          </a:solidFill>
          <a:ln/>
        </p:spPr>
      </p:sp>
      <p:sp>
        <p:nvSpPr>
          <p:cNvPr id="20" name="Text 18"/>
          <p:cNvSpPr/>
          <p:nvPr/>
        </p:nvSpPr>
        <p:spPr>
          <a:xfrm>
            <a:off x="990600" y="3497579"/>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Déploiement</a:t>
            </a:r>
            <a:endParaRPr lang="en-US" sz="1400" dirty="0"/>
          </a:p>
        </p:txBody>
      </p:sp>
      <p:sp>
        <p:nvSpPr>
          <p:cNvPr id="21" name="Text 19"/>
          <p:cNvSpPr/>
          <p:nvPr/>
        </p:nvSpPr>
        <p:spPr>
          <a:xfrm>
            <a:off x="990600" y="3784600"/>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API sur Cloud Run, dashboard sur Streamlit Cloud</a:t>
            </a:r>
            <a:endParaRPr lang="en-US" sz="1200" dirty="0"/>
          </a:p>
        </p:txBody>
      </p:sp>
      <p:sp>
        <p:nvSpPr>
          <p:cNvPr id="22" name="Shape 20"/>
          <p:cNvSpPr/>
          <p:nvPr/>
        </p:nvSpPr>
        <p:spPr>
          <a:xfrm>
            <a:off x="6159500" y="3345179"/>
            <a:ext cx="5219700" cy="805180"/>
          </a:xfrm>
          <a:prstGeom prst="roundRect">
            <a:avLst>
              <a:gd name="adj" fmla="val 11041"/>
            </a:avLst>
          </a:prstGeom>
          <a:solidFill>
            <a:srgbClr val="174C5C"/>
          </a:solidFill>
          <a:ln/>
        </p:spPr>
      </p:sp>
      <p:sp>
        <p:nvSpPr>
          <p:cNvPr id="23" name="Text 21"/>
          <p:cNvSpPr/>
          <p:nvPr/>
        </p:nvSpPr>
        <p:spPr>
          <a:xfrm>
            <a:off x="6337300" y="3497579"/>
            <a:ext cx="50100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8F7"/>
                </a:solidFill>
                <a:latin typeface="IBM Plex Sans" pitchFamily="34" charset="0"/>
                <a:ea typeface="IBM Plex Sans" pitchFamily="34" charset="-122"/>
                <a:cs typeface="IBM Plex Sans" pitchFamily="34" charset="-120"/>
              </a:rPr>
              <a:t>Passage à l’échelle</a:t>
            </a:r>
            <a:endParaRPr lang="en-US" sz="1400" dirty="0"/>
          </a:p>
        </p:txBody>
      </p:sp>
      <p:sp>
        <p:nvSpPr>
          <p:cNvPr id="24" name="Text 22"/>
          <p:cNvSpPr/>
          <p:nvPr/>
        </p:nvSpPr>
        <p:spPr>
          <a:xfrm>
            <a:off x="6337300" y="3784600"/>
            <a:ext cx="5010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IBM Plex Sans" pitchFamily="34" charset="0"/>
                <a:ea typeface="IBM Plex Sans" pitchFamily="34" charset="-122"/>
                <a:cs typeface="IBM Plex Sans" pitchFamily="34" charset="-120"/>
              </a:rPr>
              <a:t>Autres régions, PostgreSQL, Airflow</a:t>
            </a:r>
            <a:endParaRPr lang="en-US" sz="1200" dirty="0"/>
          </a:p>
        </p:txBody>
      </p:sp>
      <p:sp>
        <p:nvSpPr>
          <p:cNvPr id="25" name="Text 23"/>
          <p:cNvSpPr/>
          <p:nvPr/>
        </p:nvSpPr>
        <p:spPr>
          <a:xfrm>
            <a:off x="812800" y="4404364"/>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D3C8"/>
                </a:solidFill>
                <a:latin typeface="Space Grotesk" pitchFamily="34" charset="0"/>
                <a:ea typeface="Space Grotesk" pitchFamily="34" charset="-122"/>
                <a:cs typeface="Space Grotesk" pitchFamily="34" charset="-120"/>
              </a:rPr>
              <a:t>Merci de votre attention</a:t>
            </a:r>
            <a:endParaRPr lang="en-US" sz="2200" dirty="0"/>
          </a:p>
        </p:txBody>
      </p:sp>
      <p:sp>
        <p:nvSpPr>
          <p:cNvPr id="26" name="Text 24"/>
          <p:cNvSpPr/>
          <p:nvPr/>
        </p:nvSpPr>
        <p:spPr>
          <a:xfrm>
            <a:off x="10058400" y="62890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BA"/>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PPMT — Soutenance RNCP37827BC01</dc:title>
  <dc:subject>PptxGenJS Presentation</dc:subject>
  <dc:creator>PptxGenJS</dc:creator>
  <cp:lastModifiedBy>PptxGenJS</cp:lastModifiedBy>
  <cp:revision>1</cp:revision>
  <dcterms:created xsi:type="dcterms:W3CDTF">2026-09-30T15:04:52Z</dcterms:created>
  <dcterms:modified xsi:type="dcterms:W3CDTF">2026-09-30T15:04:52Z</dcterms:modified>
</cp:coreProperties>
</file>