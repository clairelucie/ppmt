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560320" cy="347472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RNCP37827BC01 — BC01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Predictive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Metiers en Tension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53030"/>
                </a:solidFill>
              </a:rPr>
              <a:t>PPMT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2926080"/>
            <a:ext cx="8229600" cy="27432"/>
          </a:xfrm>
          <a:prstGeom prst="rect">
            <a:avLst/>
          </a:prstGeom>
          <a:solidFill>
            <a:srgbClr val="3182CE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06324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A0AEC0"/>
                </a:solidFill>
              </a:rPr>
              <a:t>Formation : 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Developpeur en Intelligence Artificielle — Artefact</a:t>
            </a:r>
            <a:pPr indent="0" marL="0">
              <a:lnSpc>
                <a:spcPct val="150000"/>
              </a:lnSpc>
              <a:buNone/>
            </a:pP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A0AEC0"/>
                </a:solidFill>
              </a:rPr>
              <a:t>Equipe : 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Bernard (Data Analyst &amp; Admin Git)  ·  Claire (Data Analyst &amp; ML)</a:t>
            </a:r>
            <a:pPr indent="0" marL="0">
              <a:lnSpc>
                <a:spcPct val="150000"/>
              </a:lnSpc>
              <a:buNone/>
            </a:pP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A0AEC0"/>
                </a:solidFill>
              </a:rPr>
              <a:t>Perimetre : 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Offres d'emploi Ile-de-France — Adzuna + France Travail</a:t>
            </a:r>
            <a:pPr indent="0" marL="0">
              <a:lnSpc>
                <a:spcPct val="150000"/>
              </a:lnSpc>
              <a:buNone/>
            </a:pP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A0AEC0"/>
                </a:solidFill>
              </a:rPr>
              <a:t>Date : 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29 mai 2026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90D9"/>
                </a:solidFill>
              </a:rPr>
              <a:t>github.com/maninconseil-commits/PPMT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3189"/>
          </a:solidFill>
          <a:ln w="12700">
            <a:solidFill>
              <a:srgbClr val="0031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Contexte &amp; Problematique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25603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64008" cy="1280160"/>
          </a:xfrm>
          <a:prstGeom prst="rect">
            <a:avLst/>
          </a:prstGeom>
          <a:solidFill>
            <a:srgbClr val="003189"/>
          </a:solidFill>
          <a:ln w="12700">
            <a:solidFill>
              <a:srgbClr val="00318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9611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3189"/>
                </a:solidFill>
              </a:rPr>
              <a:t>2,43 M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postes a pourvoir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en France en 2025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822960"/>
            <a:ext cx="25603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822960"/>
            <a:ext cx="64008" cy="128016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89611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53030"/>
                </a:solidFill>
              </a:rPr>
              <a:t>50,1%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337560" y="141732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recrutements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juges difficiles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822960"/>
            <a:ext cx="25603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822960"/>
            <a:ext cx="64008" cy="1280160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89611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8A169"/>
                </a:solidFill>
              </a:rPr>
              <a:t>176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172200" y="141732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metiers TRES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EN TENSION en IDF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331720"/>
            <a:ext cx="8412480" cy="685800"/>
          </a:xfrm>
          <a:prstGeom prst="rect">
            <a:avLst/>
          </a:prstGeom>
          <a:solidFill>
            <a:srgbClr val="EBF8FF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37744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3189"/>
                </a:solidFill>
              </a:rPr>
              <a:t>PPMT identifie les metiers en tension en IDF et propose une analyse data aux cabinets de recrutement et aux candidats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" y="3246120"/>
            <a:ext cx="1920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60120" y="3383280"/>
            <a:ext cx="731520" cy="502920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33832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39776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Collecte API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Adzuna + France Travail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514600" y="3246120"/>
            <a:ext cx="1920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08960" y="3383280"/>
            <a:ext cx="731520" cy="502920"/>
          </a:xfrm>
          <a:prstGeom prst="rect">
            <a:avLst/>
          </a:prstGeom>
          <a:solidFill>
            <a:srgbClr val="3182CE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08960" y="33832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C2/C3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514600" y="39776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Nettoyage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Consolidation donnees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3246120"/>
            <a:ext cx="1920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257800" y="3383280"/>
            <a:ext cx="731520" cy="502920"/>
          </a:xfrm>
          <a:prstGeom prst="rect">
            <a:avLst/>
          </a:prstGeom>
          <a:solidFill>
            <a:srgbClr val="805AD5"/>
          </a:solidFill>
          <a:ln w="12700">
            <a:solidFill>
              <a:srgbClr val="805AD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57800" y="33832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663440" y="39776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Stockage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SQLite + CSV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812280" y="3246120"/>
            <a:ext cx="1920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406640" y="3383280"/>
            <a:ext cx="731520" cy="50292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06640" y="33832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12280" y="39776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Dashboard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Streamlit 6 onglets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Cibles : Cabinets de recrutement  ·  Candidats  ·  RH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3189"/>
          </a:solidFill>
          <a:ln w="12700">
            <a:solidFill>
              <a:srgbClr val="0031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Architecture du Pipeline de Donnees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Vue d ensemble C1 → C5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920240" cy="2560320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430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15544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Collecte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2011680"/>
            <a:ext cx="1920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Adzuna API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France Travail API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extract_api_ft.py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0" y="2331720"/>
            <a:ext cx="228600" cy="914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14600" y="1097280"/>
            <a:ext cx="1920240" cy="2560320"/>
          </a:xfrm>
          <a:prstGeom prst="rect">
            <a:avLst/>
          </a:prstGeom>
          <a:solidFill>
            <a:srgbClr val="3182CE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11430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C2/C3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514600" y="15544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Nettoyage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514600" y="2011680"/>
            <a:ext cx="1920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clean_adzuna.py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clean_ft.py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remap_categories.py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34840" y="2331720"/>
            <a:ext cx="228600" cy="914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097280"/>
            <a:ext cx="1920240" cy="2560320"/>
          </a:xfrm>
          <a:prstGeom prst="rect">
            <a:avLst/>
          </a:prstGeom>
          <a:solidFill>
            <a:srgbClr val="805AD5"/>
          </a:solidFill>
          <a:ln w="12700">
            <a:solidFill>
              <a:srgbClr val="805A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1430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663440" y="15544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Stockage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63440" y="2011680"/>
            <a:ext cx="1920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SQLite database.db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create_db.py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mapping ROME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83680" y="2331720"/>
            <a:ext cx="228600" cy="914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12280" y="1097280"/>
            <a:ext cx="1920240" cy="256032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12280" y="11430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812280" y="15544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Service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12280" y="2011680"/>
            <a:ext cx="1920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Dashboard Streamlit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6 onglets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localhost:8501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840480"/>
            <a:ext cx="8412480" cy="1005840"/>
          </a:xfrm>
          <a:prstGeom prst="rect">
            <a:avLst/>
          </a:prstGeom>
          <a:solidFill>
            <a:srgbClr val="FFF5F5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886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53030"/>
                </a:solidFill>
              </a:rPr>
              <a:t>Modele ML — Random Forest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42519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notebook/ml_tests.py  ·  3 modeles compares  ·  R2 = 0.9952  ·  790 metiers predits  ·  Features : nb_offres_ft, nb_offres_adzuna, salaire_moyen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Stack : Python · pandas · scikit-learn · SQLite · Streamlit · Plotly · API France Travail OAuth2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C1 — Collecte des Donnees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863840" y="109728"/>
            <a:ext cx="9144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0" y="10972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A169"/>
                </a:solidFill>
              </a:rPr>
              <a:t>C1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40233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777240"/>
            <a:ext cx="4023360" cy="502920"/>
          </a:xfrm>
          <a:prstGeom prst="rect">
            <a:avLst/>
          </a:prstGeom>
          <a:solidFill>
            <a:srgbClr val="3182CE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7772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Adzuna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566160" y="77724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A0AEC0"/>
                </a:solidFill>
              </a:rPr>
              <a:t>API publique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14173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✓  12 500 offres brutes IDF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9202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✓  Nettoyage : 4 626 offres (-63%)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4231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✓  Salaires enrichis via mediane FT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29260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✓  code_rome assigne par mapping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54880" y="777240"/>
            <a:ext cx="40233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777240"/>
            <a:ext cx="4023360" cy="502920"/>
          </a:xfrm>
          <a:prstGeom prst="rect">
            <a:avLst/>
          </a:prstGeom>
          <a:solidFill>
            <a:srgbClr val="003189"/>
          </a:solidFill>
          <a:ln w="12700">
            <a:solidFill>
              <a:srgbClr val="00318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7772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France Travail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955280" y="77724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A0AEC0"/>
                </a:solidFill>
              </a:rPr>
              <a:t>API OAuth2 officielle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14173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✓  extract_api_ft.py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19202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✓  24 051 offres IDF collectees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24231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✓  Codes ROME natifs fournis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92040" y="29260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✓  Authentification via .env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4206240"/>
            <a:ext cx="8412480" cy="731520"/>
          </a:xfrm>
          <a:prstGeom prst="rect">
            <a:avLst/>
          </a:prstGeom>
          <a:solidFill>
            <a:srgbClr val="EBF8FF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2519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189"/>
                </a:solidFill>
              </a:rPr>
              <a:t>29 031 offres totales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606040" y="4389120"/>
            <a:ext cx="18288" cy="365760"/>
          </a:xfrm>
          <a:prstGeom prst="rect">
            <a:avLst/>
          </a:prstGeom>
          <a:solidFill>
            <a:srgbClr val="3182CE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51760" y="42519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189"/>
                </a:solidFill>
              </a:rPr>
              <a:t>8 departements IDF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09160" y="4389120"/>
            <a:ext cx="18288" cy="365760"/>
          </a:xfrm>
          <a:prstGeom prst="rect">
            <a:avLst/>
          </a:prstGeom>
          <a:solidFill>
            <a:srgbClr val="3182CE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42519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189"/>
                </a:solidFill>
              </a:rPr>
              <a:t>2 sources croisees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812280" y="4389120"/>
            <a:ext cx="18288" cy="365760"/>
          </a:xfrm>
          <a:prstGeom prst="rect">
            <a:avLst/>
          </a:prstGeom>
          <a:solidFill>
            <a:srgbClr val="3182CE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0" y="42519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189"/>
                </a:solidFill>
              </a:rPr>
              <a:t>Periode : 2025–2026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182CE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C2/C3 — Nettoyage &amp; Consolidation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680960" y="109728"/>
            <a:ext cx="10972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0" y="10972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182CE"/>
                </a:solidFill>
              </a:rPr>
              <a:t>C2·C3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189"/>
                </a:solidFill>
              </a:rPr>
              <a:t>Anomalies detectees et corrections appliquees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2743200"/>
        </p:xfrm>
        <a:graphic>
          <a:graphicData uri="http://schemas.openxmlformats.org/drawingml/2006/table">
            <a:tbl>
              <a:tblPr/>
              <a:tblGrid>
                <a:gridCol w="2926080"/>
                <a:gridCol w="3200400"/>
                <a:gridCol w="22860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Anomalie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71% salaires manquants Adzuna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Enrichissement via mediane France Travail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salaires renseignes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354 offres parasites (non IDF)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Suppression titres hors perimetre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-63% volume brut -&gt; propre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64.7% entreprises FT manquantes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Remplacement par 'Non renseigne'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Coherence base de donnees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Contrats non normalises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CDI / CDD / Interim / Autre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Standardisation complete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Categories Adzuna 'Unknown'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Reclassification par mots-cles titre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 codes ROME assignes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1097280"/>
            <a:ext cx="8412480" cy="384048"/>
          </a:xfrm>
          <a:prstGeom prst="rect">
            <a:avLst/>
          </a:prstGeom>
          <a:solidFill>
            <a:srgbClr val="003189"/>
          </a:solidFill>
          <a:ln w="12700">
            <a:solidFill>
              <a:srgbClr val="00318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109728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Anomalie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291840" y="109728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Correction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0" y="10972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Impact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65760" y="1481328"/>
            <a:ext cx="84124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148132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</a:rPr>
              <a:t>71% salaires manquants Adzuna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291840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Enrichissement via mediane France Travail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400800" y="148132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A169"/>
                </a:solidFill>
              </a:rPr>
              <a:t>100% salaires renseignes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65760" y="1865376"/>
            <a:ext cx="8412480" cy="38404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186537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</a:rPr>
              <a:t>354 offres parasites (non IDF)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291840" y="186537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Suppression titres hors perimetre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400800" y="186537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A169"/>
                </a:solidFill>
              </a:rPr>
              <a:t>-63% volume brut -&gt; propre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65760" y="2249424"/>
            <a:ext cx="84124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224942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</a:rPr>
              <a:t>64.7% entreprises FT manquantes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291840" y="224942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Remplacement par 'Non renseigne'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400800" y="224942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A169"/>
                </a:solidFill>
              </a:rPr>
              <a:t>Coherence base de donnees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65760" y="2633472"/>
            <a:ext cx="8412480" cy="38404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7200" y="263347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</a:rPr>
              <a:t>Contrats non normalises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291840" y="263347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CDI / CDD / Interim / Autre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400800" y="263347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A169"/>
                </a:solidFill>
              </a:rPr>
              <a:t>Standardisation complete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365760" y="3017520"/>
            <a:ext cx="84124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7200" y="301752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</a:rPr>
              <a:t>Categories Adzuna 'Unknown'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3291840" y="30175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Reclassification par mots-cles titre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400800" y="30175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A169"/>
                </a:solidFill>
              </a:rPr>
              <a:t>19 codes ROME assignes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65760" y="4160520"/>
            <a:ext cx="8412480" cy="685800"/>
          </a:xfrm>
          <a:prstGeom prst="rect">
            <a:avLst/>
          </a:prstGeom>
          <a:solidFill>
            <a:srgbClr val="F0FFF4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48640" y="420624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A169"/>
                </a:solidFill>
              </a:rPr>
              <a:t>Resultat : 1 102 metiers consolides dans itm_consolide.csv — Dataset pret pour le ML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805AD5"/>
          </a:solidFill>
          <a:ln w="12700">
            <a:solidFill>
              <a:srgbClr val="805AD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C4 — Stockage des Donnees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863840" y="109728"/>
            <a:ext cx="9144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0" y="10972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05AD5"/>
                </a:solidFill>
              </a:rPr>
              <a:t>C4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189"/>
                </a:solidFill>
              </a:rPr>
              <a:t>4 datasets produits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4023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188720"/>
            <a:ext cx="4023360" cy="73152"/>
          </a:xfrm>
          <a:prstGeom prst="rect">
            <a:avLst/>
          </a:prstGeom>
          <a:solidFill>
            <a:srgbClr val="805AD5"/>
          </a:solidFill>
          <a:ln w="12700">
            <a:solidFill>
              <a:srgbClr val="805A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984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189"/>
                </a:solidFill>
              </a:rPr>
              <a:t>offres_idf_clean.csv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83280" y="1280160"/>
            <a:ext cx="914400" cy="320040"/>
          </a:xfrm>
          <a:prstGeom prst="rect">
            <a:avLst/>
          </a:prstGeom>
          <a:solidFill>
            <a:srgbClr val="EBF8FF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280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182CE"/>
                </a:solidFill>
              </a:rPr>
              <a:t>4 626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16459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Offres Adzuna nettoyees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19202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titre, salaire_moyen, code_rome, departement...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1188720"/>
            <a:ext cx="4023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188720"/>
            <a:ext cx="4023360" cy="73152"/>
          </a:xfrm>
          <a:prstGeom prst="rect">
            <a:avLst/>
          </a:prstGeom>
          <a:solidFill>
            <a:srgbClr val="805AD5"/>
          </a:solidFill>
          <a:ln w="12700">
            <a:solidFill>
              <a:srgbClr val="805A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2984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189"/>
                </a:solidFill>
              </a:rPr>
              <a:t>offres_ft_idf_clean.csv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72400" y="1280160"/>
            <a:ext cx="914400" cy="320040"/>
          </a:xfrm>
          <a:prstGeom prst="rect">
            <a:avLst/>
          </a:prstGeom>
          <a:solidFill>
            <a:srgbClr val="EBF8FF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280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182CE"/>
                </a:solidFill>
              </a:rPr>
              <a:t>24 051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16459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Offres France Travail nettoyees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19202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titre, appellation_rome, salaire_moyen_ft, departement...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697480"/>
            <a:ext cx="4023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2697480"/>
            <a:ext cx="4023360" cy="73152"/>
          </a:xfrm>
          <a:prstGeom prst="rect">
            <a:avLst/>
          </a:prstGeom>
          <a:solidFill>
            <a:srgbClr val="805AD5"/>
          </a:solidFill>
          <a:ln w="12700">
            <a:solidFill>
              <a:srgbClr val="805AD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80720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189"/>
                </a:solidFill>
              </a:rPr>
              <a:t>itm_consolide.csv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383280" y="2788920"/>
            <a:ext cx="914400" cy="320040"/>
          </a:xfrm>
          <a:prstGeom prst="rect">
            <a:avLst/>
          </a:prstGeom>
          <a:solidFill>
            <a:srgbClr val="EBF8FF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0" y="27889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182CE"/>
                </a:solidFill>
              </a:rPr>
              <a:t>1 102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31546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Dataset ML consolide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34290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code_rome, indice_tension, statut, salaire_moyen...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2697480"/>
            <a:ext cx="4023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2697480"/>
            <a:ext cx="4023360" cy="73152"/>
          </a:xfrm>
          <a:prstGeom prst="rect">
            <a:avLst/>
          </a:prstGeom>
          <a:solidFill>
            <a:srgbClr val="805AD5"/>
          </a:solidFill>
          <a:ln w="12700">
            <a:solidFill>
              <a:srgbClr val="805AD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280720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189"/>
                </a:solidFill>
              </a:rPr>
              <a:t>predictions_itm.csv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772400" y="2788920"/>
            <a:ext cx="914400" cy="320040"/>
          </a:xfrm>
          <a:prstGeom prst="rect">
            <a:avLst/>
          </a:prstGeom>
          <a:solidFill>
            <a:srgbClr val="EBF8FF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0" y="27889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182CE"/>
                </a:solidFill>
              </a:rPr>
              <a:t>790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46320" y="31546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Predictions Random Forest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46320" y="34290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code_rome, libelle, itm_predit, statut_predit, ecart...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4343400"/>
            <a:ext cx="8412480" cy="502920"/>
          </a:xfrm>
          <a:prstGeom prst="rect">
            <a:avLst/>
          </a:prstGeom>
          <a:solidFill>
            <a:srgbClr val="FAF5FF"/>
          </a:solidFill>
          <a:ln w="12700">
            <a:solidFill>
              <a:srgbClr val="805AD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43891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05AD5"/>
                </a:solidFill>
              </a:rPr>
              <a:t>Base SQLite : data/database.db  ·  Tables : offres_adzuna_clean, offres_ft_clean  ·  Requetable par le dashboard Streamlit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Modelisation ML — Random Forest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189"/>
                </a:solidFill>
              </a:rPr>
              <a:t>Comparatif de 3 modeles — notebook/ml_tests.py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256032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2560320" cy="45720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43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✗  ECARTE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6916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189"/>
                </a:solidFill>
              </a:rPr>
              <a:t>Regression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03189"/>
                </a:solidFill>
              </a:rPr>
              <a:t>Lineaire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3317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MAE : 0.02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6517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3E3E"/>
                </a:solidFill>
              </a:rPr>
              <a:t>R2 : 1.0000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301752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Data leakage :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nb_offres_total = ft + adzuna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1143000"/>
            <a:ext cx="256032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143000"/>
            <a:ext cx="2560320" cy="4572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1143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~  Non retenu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00400" y="16916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189"/>
                </a:solidFill>
              </a:rPr>
              <a:t>XGBoost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383280" y="23317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MAE : 2.72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83280" y="26517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3E3E"/>
                </a:solidFill>
              </a:rPr>
              <a:t>R2 : 0.9940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37560" y="301752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Moins performant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que Random Forest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35040" y="1143000"/>
            <a:ext cx="2560320" cy="2834640"/>
          </a:xfrm>
          <a:prstGeom prst="rect">
            <a:avLst/>
          </a:prstGeom>
          <a:solidFill>
            <a:srgbClr val="F0FFF4"/>
          </a:solidFill>
          <a:ln w="12700">
            <a:solidFill>
              <a:srgbClr val="38A16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1143000"/>
            <a:ext cx="2560320" cy="457200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0" y="1143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  RETENU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035040" y="16916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189"/>
                </a:solidFill>
              </a:rPr>
              <a:t>Random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03189"/>
                </a:solidFill>
              </a:rPr>
              <a:t>Forest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217920" y="23317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MAE : 2.24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17920" y="26517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A169"/>
                </a:solidFill>
              </a:rPr>
              <a:t>R2 : 0.9952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172200" y="301752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Meilleur rapport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MAE / R2 / robustesse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160520"/>
            <a:ext cx="8412480" cy="685800"/>
          </a:xfrm>
          <a:prstGeom prst="rect">
            <a:avLst/>
          </a:prstGeom>
          <a:solidFill>
            <a:srgbClr val="FFF5F5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20624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3030"/>
                </a:solidFill>
              </a:rPr>
              <a:t>Data leakage detecte :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nb_offres_total = nb_offres_ft + nb_offres_adzuna (colonne derivee). Regression Lineaire trouve la combinaison exacte → R2=1.0 artificiel. Sans cette colonne : RF R2=0.9348 (−6%) mais toujours Reg. Lineaire R2=1.0 → ecarteee definitivement.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C5 — Service Numerique : Dashboard Streamlit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863840" y="109728"/>
            <a:ext cx="9144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0" y="10972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53030"/>
                </a:solidFill>
              </a:rPr>
              <a:t>C5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731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6 onglets interactifs — webapp/app.py — streamlit run webapp/app.py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143000"/>
            <a:ext cx="457200" cy="155448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143000"/>
            <a:ext cx="457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12801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189"/>
                </a:solidFill>
              </a:rPr>
              <a:t>Vue d ensemble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169164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KPIs globaux, repartition ITM,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Top 10 metiers en tension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114300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143000"/>
            <a:ext cx="457200" cy="155448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1143000"/>
            <a:ext cx="457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794760" y="12801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189"/>
                </a:solidFill>
              </a:rPr>
              <a:t>Secteurs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94760" y="169164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Aujourd hui vs Demain,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evolution mensuelle Adzuna vs FT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114300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143000"/>
            <a:ext cx="457200" cy="155448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1143000"/>
            <a:ext cx="457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675120" y="12801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189"/>
                </a:solidFill>
              </a:rPr>
              <a:t>Competences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75120" y="169164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Hard skills, Soft skills,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Technologies emergentes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288036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2880360"/>
            <a:ext cx="457200" cy="155448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2880360"/>
            <a:ext cx="457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14400" y="30175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189"/>
                </a:solidFill>
              </a:rPr>
              <a:t>Formations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4400" y="34290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Niveaux formation, CDI vs CDD,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Metiers a fort potentiel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46120" y="288036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46120" y="2880360"/>
            <a:ext cx="457200" cy="155448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46120" y="2880360"/>
            <a:ext cx="457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3794760" y="30175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189"/>
                </a:solidFill>
              </a:rPr>
              <a:t>Metiers par Region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794760" y="34290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Bubble map IDF, Top 10,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Comparaison BMO 2025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26480" y="288036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26480" y="2880360"/>
            <a:ext cx="457200" cy="155448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26480" y="2880360"/>
            <a:ext cx="457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675120" y="30175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189"/>
                </a:solidFill>
              </a:rPr>
              <a:t>Salaires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675120" y="34290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Par secteur, par departement,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distribution, metiers en tension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3189"/>
          </a:solidFill>
          <a:ln w="12700">
            <a:solidFill>
              <a:srgbClr val="0031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Resultats &amp; Validation — Top 10 BMO 2025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1920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777240"/>
            <a:ext cx="1920240" cy="64008"/>
          </a:xfrm>
          <a:prstGeom prst="rect">
            <a:avLst/>
          </a:prstGeom>
          <a:solidFill>
            <a:srgbClr val="003189"/>
          </a:solidFill>
          <a:ln w="12700">
            <a:solidFill>
              <a:srgbClr val="00318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686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3189"/>
                </a:solidFill>
              </a:rPr>
              <a:t>29 031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2801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offres analysees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14600" y="777240"/>
            <a:ext cx="1920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14600" y="777240"/>
            <a:ext cx="1920240" cy="64008"/>
          </a:xfrm>
          <a:prstGeom prst="rect">
            <a:avLst/>
          </a:prstGeom>
          <a:solidFill>
            <a:srgbClr val="3182CE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8686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182CE"/>
                </a:solidFill>
              </a:rPr>
              <a:t>1 102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514600" y="12801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metiers identifies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777240"/>
            <a:ext cx="1920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777240"/>
            <a:ext cx="1920240" cy="64008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8686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53030"/>
                </a:solidFill>
              </a:rPr>
              <a:t>176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63440" y="12801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TRES EN TENSION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12280" y="777240"/>
            <a:ext cx="1920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12280" y="777240"/>
            <a:ext cx="1920240" cy="64008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12280" y="8686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8A169"/>
                </a:solidFill>
              </a:rPr>
              <a:t>8/10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812280" y="12801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valides vs BMO 2025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1828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189"/>
                </a:solidFill>
              </a:rPr>
              <a:t>Comparaison Top 10 ecole BMO 2025 vs nos donnees IDF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2148840"/>
            <a:ext cx="8412480" cy="347472"/>
          </a:xfrm>
          <a:prstGeom prst="rect">
            <a:avLst/>
          </a:prstGeom>
          <a:solidFill>
            <a:srgbClr val="003189"/>
          </a:solidFill>
          <a:ln w="12700">
            <a:solidFill>
              <a:srgbClr val="00318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14884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Code ROME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463040" y="21488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Metier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023360" y="21488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Taux diff BMO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03520" y="21488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Notre statut IDF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0" y="21488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Notre ITM IDF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2496312"/>
            <a:ext cx="841248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2496312"/>
            <a:ext cx="1005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F1602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463040" y="2496312"/>
            <a:ext cx="2560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Couvreur / Charpentier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023360" y="2496312"/>
            <a:ext cx="1280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89%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303520" y="2496312"/>
            <a:ext cx="20116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53030"/>
                </a:solidFill>
              </a:rPr>
              <a:t>TRES EN TENSION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315200" y="2496312"/>
            <a:ext cx="15544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810.4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2779776"/>
            <a:ext cx="8412480" cy="283464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2779776"/>
            <a:ext cx="1005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I1601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463040" y="2779776"/>
            <a:ext cx="2560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Carrossier Automobile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023360" y="2779776"/>
            <a:ext cx="1280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88%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303520" y="2779776"/>
            <a:ext cx="20116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NON TROUVE IDF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315200" y="2779776"/>
            <a:ext cx="15544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—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5760" y="3063240"/>
            <a:ext cx="841248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3063240"/>
            <a:ext cx="1005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K1302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463040" y="3063240"/>
            <a:ext cx="2560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Aide a domicile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023360" y="3063240"/>
            <a:ext cx="1280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87%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303520" y="3063240"/>
            <a:ext cx="20116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53030"/>
                </a:solidFill>
              </a:rPr>
              <a:t>TRES EN TENSION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315200" y="3063240"/>
            <a:ext cx="15544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499.4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65760" y="3346704"/>
            <a:ext cx="8412480" cy="283464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3346704"/>
            <a:ext cx="1005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H2912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463040" y="3346704"/>
            <a:ext cx="2560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Ouvrier Chaudronnerie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023360" y="3346704"/>
            <a:ext cx="1280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86%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303520" y="3346704"/>
            <a:ext cx="20116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A169"/>
                </a:solidFill>
              </a:rPr>
              <a:t>EQUILIBRE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315200" y="3346704"/>
            <a:ext cx="15544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61.4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65760" y="3630168"/>
            <a:ext cx="841248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7200" y="3630168"/>
            <a:ext cx="1005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J1502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1463040" y="3630168"/>
            <a:ext cx="2560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Aide-Soignant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023360" y="3630168"/>
            <a:ext cx="1280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82%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303520" y="3630168"/>
            <a:ext cx="20116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53030"/>
                </a:solidFill>
              </a:rPr>
              <a:t>TRES EN TENSION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315200" y="3630168"/>
            <a:ext cx="15544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2885.7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365760" y="3913632"/>
            <a:ext cx="8412480" cy="283464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3913632"/>
            <a:ext cx="1005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I1304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1463040" y="3913632"/>
            <a:ext cx="2560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Technicien Maintenance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4023360" y="3913632"/>
            <a:ext cx="1280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84%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5303520" y="3913632"/>
            <a:ext cx="20116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53030"/>
                </a:solidFill>
              </a:rPr>
              <a:t>TRES EN TENSION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7315200" y="3913632"/>
            <a:ext cx="15544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961.9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365760" y="4197096"/>
            <a:ext cx="8412480" cy="283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7200" y="4197096"/>
            <a:ext cx="1005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G1602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1463040" y="4197096"/>
            <a:ext cx="2560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Chef Cuisinier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4023360" y="4197096"/>
            <a:ext cx="1280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79%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5303520" y="4197096"/>
            <a:ext cx="20116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53030"/>
                </a:solidFill>
              </a:rPr>
              <a:t>TRES EN TENSION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7315200" y="4197096"/>
            <a:ext cx="15544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1334.4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365760" y="4480560"/>
            <a:ext cx="8412480" cy="283464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57200" y="4480560"/>
            <a:ext cx="1005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N4101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1463040" y="4480560"/>
            <a:ext cx="2560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Chauffeur PL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4023360" y="4480560"/>
            <a:ext cx="1280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76%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5303520" y="4480560"/>
            <a:ext cx="20116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53030"/>
                </a:solidFill>
              </a:rPr>
              <a:t>TRES EN TENSION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7315200" y="4480560"/>
            <a:ext cx="15544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577.1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3189"/>
          </a:solidFill>
          <a:ln w="12700">
            <a:solidFill>
              <a:srgbClr val="0031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Organisation &amp; Logique de Travail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40233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777240"/>
            <a:ext cx="4023360" cy="502920"/>
          </a:xfrm>
          <a:prstGeom prst="rect">
            <a:avLst/>
          </a:prstGeom>
          <a:solidFill>
            <a:srgbClr val="003189"/>
          </a:solidFill>
          <a:ln w="12700">
            <a:solidFill>
              <a:srgbClr val="00318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772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Bernard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651760" y="7772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A0AEC0"/>
                </a:solidFill>
              </a:rPr>
              <a:t>Data Analyst + Admin Git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417320"/>
            <a:ext cx="54864" cy="228600"/>
          </a:xfrm>
          <a:prstGeom prst="rect">
            <a:avLst/>
          </a:prstGeom>
          <a:solidFill>
            <a:srgbClr val="003189"/>
          </a:solidFill>
          <a:ln w="12700">
            <a:solidFill>
              <a:srgbClr val="00318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716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Collecte &amp; nettoyage Adzuna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1810512"/>
            <a:ext cx="54864" cy="228600"/>
          </a:xfrm>
          <a:prstGeom prst="rect">
            <a:avLst/>
          </a:prstGeom>
          <a:solidFill>
            <a:srgbClr val="003189"/>
          </a:solidFill>
          <a:ln w="12700">
            <a:solidFill>
              <a:srgbClr val="00318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7647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Base SQLite — create_db.py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203704"/>
            <a:ext cx="54864" cy="228600"/>
          </a:xfrm>
          <a:prstGeom prst="rect">
            <a:avLst/>
          </a:prstGeom>
          <a:solidFill>
            <a:srgbClr val="003189"/>
          </a:solidFill>
          <a:ln w="12700">
            <a:solidFill>
              <a:srgbClr val="00318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15798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Mapping codes ROME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2596896"/>
            <a:ext cx="54864" cy="228600"/>
          </a:xfrm>
          <a:prstGeom prst="rect">
            <a:avLst/>
          </a:prstGeom>
          <a:solidFill>
            <a:srgbClr val="003189"/>
          </a:solidFill>
          <a:ln w="12700">
            <a:solidFill>
              <a:srgbClr val="00318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55117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Administration GitHub (branches, protection main, droits)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777240"/>
            <a:ext cx="40233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777240"/>
            <a:ext cx="4023360" cy="50292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7772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Claire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040880" y="7772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A0AEC0"/>
                </a:solidFill>
              </a:rPr>
              <a:t>Data Analyst + ML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92040" y="1417320"/>
            <a:ext cx="54864" cy="22860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13716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Collecte &amp; nettoyage France Travail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92040" y="1810512"/>
            <a:ext cx="54864" cy="22860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17647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API FT OAuth2 — extract_api_ft.py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92040" y="2203704"/>
            <a:ext cx="54864" cy="22860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215798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Modeles ML — Random Forest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92040" y="2596896"/>
            <a:ext cx="54864" cy="22860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255117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Dashboard Streamlit — app.py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92040" y="2990088"/>
            <a:ext cx="54864" cy="22860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29443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Documentation &amp; rapport qualite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65760" y="3383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189"/>
                </a:solidFill>
              </a:rPr>
              <a:t>Methode Agile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65760" y="374904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005840" y="3822192"/>
            <a:ext cx="640080" cy="384048"/>
          </a:xfrm>
          <a:prstGeom prst="rect">
            <a:avLst/>
          </a:prstGeom>
          <a:solidFill>
            <a:srgbClr val="3182CE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05840" y="382219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65760" y="42519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189"/>
                </a:solidFill>
              </a:rPr>
              <a:t>Point matin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65760" y="449884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Objectifs du jour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514600" y="374904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154680" y="3822192"/>
            <a:ext cx="640080" cy="384048"/>
          </a:xfrm>
          <a:prstGeom prst="rect">
            <a:avLst/>
          </a:prstGeom>
          <a:solidFill>
            <a:srgbClr val="3182CE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154680" y="382219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PM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514600" y="42519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189"/>
                </a:solidFill>
              </a:rPr>
              <a:t>Point soir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514600" y="449884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Validation + push Git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663440" y="374904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303520" y="3822192"/>
            <a:ext cx="640080" cy="384048"/>
          </a:xfrm>
          <a:prstGeom prst="rect">
            <a:avLst/>
          </a:prstGeom>
          <a:solidFill>
            <a:srgbClr val="3182CE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03520" y="382219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663440" y="42519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189"/>
                </a:solidFill>
              </a:rPr>
              <a:t>Pull Requests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663440" y="449884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Review croisee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812280" y="374904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452360" y="3822192"/>
            <a:ext cx="640080" cy="384048"/>
          </a:xfrm>
          <a:prstGeom prst="rect">
            <a:avLst/>
          </a:prstGeom>
          <a:solidFill>
            <a:srgbClr val="3182CE"/>
          </a:solidFill>
          <a:ln w="12700">
            <a:solidFill>
              <a:srgbClr val="3182C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52360" y="382219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GIT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812280" y="42519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189"/>
                </a:solidFill>
              </a:rPr>
              <a:t>Branches feats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812280" y="449884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 branche / tache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3189"/>
          </a:solidFill>
          <a:ln w="12700">
            <a:solidFill>
              <a:srgbClr val="0031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Bilan des Competences RNCP37827BC01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4023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777240"/>
            <a:ext cx="594360" cy="1234440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77240"/>
            <a:ext cx="594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850392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189"/>
                </a:solidFill>
              </a:rPr>
              <a:t>✓  Collecte automatisee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188720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·  API France Travail OAuth2 (extract_api_ft.py)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51560" y="1444752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·  API Adzuna (offres_idf.csv)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51560" y="1700784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·  Gestion erreurs + logs + .env securise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777240"/>
            <a:ext cx="4023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777240"/>
            <a:ext cx="594360" cy="1234440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777240"/>
            <a:ext cx="594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40680" y="850392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189"/>
                </a:solidFill>
              </a:rPr>
              <a:t>✓  Preparation donnees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40680" y="1188720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·  Nettoyage Python/Pandas (clean_adzuna.py, clean_ft.py)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40680" y="1444752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·  354 suppressions, normalisation contrats/dates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40680" y="1700784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·  Gestion valeurs manquantes documentee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194560"/>
            <a:ext cx="4023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194560"/>
            <a:ext cx="594360" cy="1234440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194560"/>
            <a:ext cx="594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51560" y="2267712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189"/>
                </a:solidFill>
              </a:rPr>
              <a:t>✓  Regles agregation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51560" y="2606040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·  Consolidation 2 sources (mapping_adzuna_rome.py)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51560" y="2862072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·  Calcul ITM par code ROME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51560" y="3118104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·  Reclassification categories (remap_categories.py)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2194560"/>
            <a:ext cx="4023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194560"/>
            <a:ext cx="594360" cy="1234440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194560"/>
            <a:ext cx="594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40680" y="2267712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189"/>
                </a:solidFill>
              </a:rPr>
              <a:t>✓  Base de donnees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40680" y="2606040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·  SQLite (database.db) — create_db.py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40680" y="2862072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·  4 datasets CSV documentes (dictionnaire.md)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40680" y="3118104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·  Schema SQLite avec tables indexees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3611880"/>
            <a:ext cx="4023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65760" y="3611880"/>
            <a:ext cx="594360" cy="1234440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3611880"/>
            <a:ext cx="594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C5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51560" y="3685032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189"/>
                </a:solidFill>
              </a:rPr>
              <a:t>✓  Mise a disposition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051560" y="4023360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·  Dashboard Streamlit 6 onglets (webapp/app.py)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51560" y="4279392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·  29 031 offres accessibles et visualisees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51560" y="4535424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·  Bubble map IDF, skills, salaires, formations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54880" y="3611880"/>
            <a:ext cx="4023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54880" y="3611880"/>
            <a:ext cx="594360" cy="1234440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3611880"/>
            <a:ext cx="594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ML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440680" y="3685032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189"/>
                </a:solidFill>
              </a:rPr>
              <a:t>✓  Bonus : Modelisation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440680" y="4023360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·  3 modeles compares (ml_tests.py)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440680" y="4279392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·  Random Forest R2=0.9952 sauvegarde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440680" y="4535424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·  Data leakage detecte et documente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de votre attention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200400" y="1417320"/>
            <a:ext cx="2743200" cy="4572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645920"/>
            <a:ext cx="1828800" cy="1097280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7373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53030"/>
                </a:solidFill>
              </a:rPr>
              <a:t>29 031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EC0"/>
                </a:solidFill>
              </a:rPr>
              <a:t>offres analysees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0" y="1645920"/>
            <a:ext cx="1828800" cy="1097280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17373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53030"/>
                </a:solidFill>
              </a:rPr>
              <a:t>1 102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560320" y="22402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EC0"/>
                </a:solidFill>
              </a:rPr>
              <a:t>metiers consolides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645920"/>
            <a:ext cx="1828800" cy="1097280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7373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53030"/>
                </a:solidFill>
              </a:rPr>
              <a:t>R2 = 0.9952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63440" y="22402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EC0"/>
                </a:solidFill>
              </a:rPr>
              <a:t>Random Forest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66560" y="1645920"/>
            <a:ext cx="1828800" cy="1097280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0" y="17373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53030"/>
                </a:solidFill>
              </a:rPr>
              <a:t>6 onglets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766560" y="22402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EC0"/>
                </a:solidFill>
              </a:rPr>
              <a:t>dashboard Streamlit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371600" y="2926080"/>
            <a:ext cx="6400800" cy="45720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108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90D9"/>
                </a:solidFill>
              </a:rPr>
              <a:t>github.com/maninconseil-commits/PPMT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Stack : Python · pandas · scikit-learn · SQLite · Streamlit · Plotly · API France Travail · Adzuna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572000"/>
            <a:ext cx="82296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RNCP37827BC01  ·  Formation Artefact  ·  Bernard &amp; Claire  ·  Soutenance 29/05/2026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PPMT - Soutenance RNCP37827BC01</dc:title>
  <dc:subject>PptxGenJS Presentation</dc:subject>
  <dc:creator>PptxGenJS</dc:creator>
  <cp:lastModifiedBy>PptxGenJS</cp:lastModifiedBy>
  <cp:revision>1</cp:revision>
  <dcterms:created xsi:type="dcterms:W3CDTF">2026-05-28T08:38:11Z</dcterms:created>
  <dcterms:modified xsi:type="dcterms:W3CDTF">2026-05-28T08:38:11Z</dcterms:modified>
</cp:coreProperties>
</file>