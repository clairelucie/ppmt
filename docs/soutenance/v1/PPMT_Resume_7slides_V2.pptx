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(%)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0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Régr. Lin.*</c:v>
                  </c:pt>
                  <c:pt idx="1">
                    <c:v>XGBoost</c:v>
                  </c:pt>
                  <c:pt idx="2">
                    <c:v>Rnd Forest ✓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99.4</c:v>
                </c:pt>
                <c:pt idx="2">
                  <c:v>99.52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8.5"/>
        </c:scaling>
        <c:delete val="0"/>
        <c:axPos val="l"/>
        <c:majorGridlines>
          <c:spPr>
            <a:ln w="6350" cap="flat">
              <a:solidFill>
                <a:srgbClr val="E2EB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Pénuries de Main-d'Œuvre par Territoire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8321040" cy="27432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606040"/>
            <a:ext cx="1965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6700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29 031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analysées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606040"/>
            <a:ext cx="1965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6700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32186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 consolidés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06040"/>
            <a:ext cx="1965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6700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R²=0.9952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2186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606040"/>
            <a:ext cx="1965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6700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2186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validés vs BMO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0233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</a:rPr>
              <a:t xml:space="preserve">Équipe 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Bernard (Data Analyst &amp; Admin Git)  ·  Claire (Data Analyst &amp; ML)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4074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</a:rPr>
              <a:t xml:space="preserve">Formation Artefact  ·  RNCP37827BC01  ·  </a:t>
            </a:r>
            <a:pPr indent="0" marL="0">
              <a:buNone/>
            </a:pPr>
            <a:r>
              <a:rPr lang="en-US" sz="1200" b="1" dirty="0">
                <a:solidFill>
                  <a:srgbClr val="00B0A8"/>
                </a:solidFill>
              </a:rPr>
              <a:t>Soutenance 29/05/2026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060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 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à pourvoir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 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06040" cy="109728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50,1 %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recrutements jugés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difficiles (BMO)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68680"/>
            <a:ext cx="26060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807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 TRÈS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en IDF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8503920" cy="6400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43200"/>
            <a:ext cx="73152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614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: Comment identifier automatiquement les métiers en tension en IDF pour anticiper les pénuries de recrutement et orienter les acteurs de l'emploi 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155448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00B0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566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Collecte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74520" y="4023360"/>
            <a:ext cx="155448" cy="1828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29968" y="3566160"/>
            <a:ext cx="155448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00B0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29968" y="3566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C2/C3 Nettoyage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Consolid.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84448" y="4023360"/>
            <a:ext cx="155448" cy="1828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9896" y="3566160"/>
            <a:ext cx="155448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00B0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39896" y="3566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Stockage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94376" y="4023360"/>
            <a:ext cx="155448" cy="1828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9824" y="3566160"/>
            <a:ext cx="155448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00B0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9824" y="3566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04304" y="4023360"/>
            <a:ext cx="155448" cy="1828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9752" y="3566160"/>
            <a:ext cx="1554480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00B0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59752" y="3566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Sources : Adzuna API (IDF)  +  France Travail OAuth2  |  Périmètre : 8 départements IDF  |  Période :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Points Clés &amp; Rétroplanning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434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8686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29 031 offres consolidées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161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4 626 Adzuna + 24 051 France Travail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départements IDF — 2 sources croisées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434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64008" cy="8686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1 102 codes ROME identifiés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219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Adzuna → ROME 4.0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central du calcul ITM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434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64008" cy="8686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R² = 0.9952 — 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2278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2.24 — 790 métiers prédits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modèles comparés, data leakage écarté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4434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86200"/>
            <a:ext cx="64008" cy="86868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931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8/10 validés vs BMO 2025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4233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métiers très en tension IDF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: Couvreur, Technicien Maint., Cuisinier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804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Rétroplanning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50992" y="1170432"/>
            <a:ext cx="45720" cy="3611880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261872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Janv–Févr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14447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collecte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2011680"/>
            <a:ext cx="274320" cy="274320"/>
          </a:xfrm>
          <a:prstGeom prst="ellipse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2194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mapping ROME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32120" y="276148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944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calcul ITM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511296"/>
            <a:ext cx="274320" cy="274320"/>
          </a:xfrm>
          <a:prstGeom prst="ellipse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3419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36941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+ dashboard Streamlit v2 (filtres, KPI, salaires)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32120" y="4261104"/>
            <a:ext cx="274320" cy="2743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169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mai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44439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RNCP37827BC01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Difficultés Rencontrées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206240" cy="91440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033272"/>
            <a:ext cx="347472" cy="347472"/>
          </a:xfrm>
          <a:prstGeom prst="ellipse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3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1051560"/>
            <a:ext cx="713232" cy="256032"/>
          </a:xfrm>
          <a:prstGeom prst="rect">
            <a:avLst>
              <a:gd name="adj" fmla="val 17857"/>
            </a:avLst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0515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Élevée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1005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71 % salaires manquants (Adzuna)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4356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3 544 / 4 980 offres sans salaire — distribution très asymétrique (outliers PDG vs stages)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86868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868680"/>
            <a:ext cx="4206240" cy="91440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7176" y="1033272"/>
            <a:ext cx="347472" cy="347472"/>
          </a:xfrm>
          <a:prstGeom prst="ellipse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03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0728" y="1051560"/>
            <a:ext cx="713232" cy="256032"/>
          </a:xfrm>
          <a:prstGeom prst="rect">
            <a:avLst>
              <a:gd name="adj" fmla="val 17857"/>
            </a:avLst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10515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Élevée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005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50,8 % doublons (Adzuna)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7176" y="14356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6 346 doublons sur 12 500 lignes — Adzuna republie les offres non pourvues chaque semaine avec nouvelle URL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2219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21992"/>
            <a:ext cx="42062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23865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386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03320" y="2404872"/>
            <a:ext cx="713232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40487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Moyenne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" y="2359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offres parasites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" y="2788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à la demande, franchisés, cours particuliers — non représentatifs du marché salarié IDF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22219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2221992"/>
            <a:ext cx="42062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23865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2386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10728" y="2404872"/>
            <a:ext cx="713232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240487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Moyenne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2359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64,7 % entreprises FT manquantes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37176" y="2788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16 303 offres France Travail sans nom d'employeur — incompatible avec enrichissement croisé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57530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575304"/>
            <a:ext cx="42062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" y="3739896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739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03320" y="3758184"/>
            <a:ext cx="713232" cy="256032"/>
          </a:xfrm>
          <a:prstGeom prst="rect">
            <a:avLst>
              <a:gd name="adj" fmla="val 1785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375818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Critique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" y="37124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— Régression Linéaire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9768" y="4142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nb_offres_total = FT + Adzuna causait R²=1.000 — biais révélé et écarté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27448" y="357530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27448" y="3575304"/>
            <a:ext cx="42062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37176" y="373989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739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10728" y="3758184"/>
            <a:ext cx="713232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10728" y="375818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Moyenne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57800" y="37124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Hétérogénéité des formats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37176" y="4142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incompatibles (ISO vs FR), contrats non normalisés (Full-time vs CDI), catégories Adzuna en anglais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Plan d'Action mis en Place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4124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41248"/>
            <a:ext cx="4251960" cy="8229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069080" cy="237744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692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71 % salaires manquants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243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Enrichissement médiane 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4996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: médiane FT par département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: médiane par secteur Adzuna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" y="1865376"/>
            <a:ext cx="4023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8653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100 % salaires renseignés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41248"/>
            <a:ext cx="4251960" cy="8229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969264"/>
            <a:ext cx="4069080" cy="237744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9692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50,8 % doublons Adzuna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243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Déduplication titre + entreprise + lieu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4996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sur combinaison 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de l'offre la plus récente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64608" y="1865376"/>
            <a:ext cx="4023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653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4 980 → 4 626 offres uniques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2231136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231136"/>
            <a:ext cx="4251960" cy="8229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359152"/>
            <a:ext cx="4069080" cy="237744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359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354 offres parasites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Suppression par mots-clés titre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28895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: « indépendant », « franchisé »,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nos clients ont demandé »…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" y="3255264"/>
            <a:ext cx="4023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25526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Dataset IDF salarié propre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31136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31136"/>
            <a:ext cx="4251960" cy="8229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359152"/>
            <a:ext cx="4069080" cy="237744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359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Entreprises FT manquantes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Remplacement par 'Non renseigné'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4608" y="28895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non utilisée par le modèle 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neutre pour le dashboard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64608" y="3255264"/>
            <a:ext cx="4023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25526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valeur nulle — base cohérente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" y="3621024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" y="3621024"/>
            <a:ext cx="4251960" cy="8229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749040"/>
            <a:ext cx="4069080" cy="237744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749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leakage Régression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2336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Exclusion feature leakée + Random Forest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2336" y="4279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nb_offres_total du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: MAE=2.24, R²=0.9952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2336" y="4645152"/>
            <a:ext cx="4023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464515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Modèle robuste et déployable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621024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621024"/>
            <a:ext cx="4251960" cy="8229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749040"/>
            <a:ext cx="4069080" cy="237744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749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Formats hétérogènes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64608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Normalisation ISO 8601 + 4 catégories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64608" y="4279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→ YYYY-MM-DD + 4 colonnes dérivées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→ CDI / CDD / Intérim / Autre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64608" y="4645152"/>
            <a:ext cx="402336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64515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Croisement des 2 sources possible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Résultats &amp; Améliorations à Venir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obtenus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4251960" cy="1920240"/>
        </p:xfrm>
        <a:graphic>
          <a:graphicData uri="http://schemas.openxmlformats.org/drawingml/2006/table">
            <a:tbl>
              <a:tblPr/>
              <a:tblGrid>
                <a:gridCol w="685800"/>
                <a:gridCol w="1691640"/>
                <a:gridCol w="1554480"/>
                <a:gridCol w="320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IDF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F1602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Couvreur / Charpentier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EN 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Aide a domicile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EN 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Aide-Soignant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EN 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Technicien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EN 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G1602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Cuisinier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EN 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320040" y="3474720"/>
          <a:ext cx="42519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804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à venir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846320" y="118872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0" y="1188720"/>
            <a:ext cx="64008" cy="169164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10912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Court terme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10912" y="1600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France Travail officielle (couverture nationale)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10912" y="1984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LSTM pour horizon 6–12 mois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10912" y="2368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recommandation formations CPF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0" y="310896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3108960"/>
            <a:ext cx="64008" cy="1691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10912" y="3182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Moyen terme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10912" y="3520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toutes régions France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10912" y="3904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pour intégration outils RH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10912" y="4288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: MLflow + Airflow + monitoring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4736592"/>
            <a:ext cx="39776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92040" y="47365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Dashboard : streamlit run webapp/app.py  →  localhost:8501  —  6 onglets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321040" cy="36576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13898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1389888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98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Pipeline end-to-end opérationnel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69164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29 031 offres IDF collectées, nettoyées et consolidées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depuis 2 sources (Adzuna + France Travail OAuth2)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023360" cy="13898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64008" cy="1389888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298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ITM : indicateur fiable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69164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1 102 codes ROME identifiés, 8/10 validés vs BMO 2025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Corrélation confirmée avec les données institutionnelles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4023360" cy="13898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61488"/>
            <a:ext cx="64008" cy="1389888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7121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Modèle ML robuste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26440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R²=0.9952, MAE=2.24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leakage détecté, documenté et écarté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61488"/>
            <a:ext cx="4023360" cy="13898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61488"/>
            <a:ext cx="64008" cy="1389888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87121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Dashboard livré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26440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onglets Streamlit — bubble map IDF, prédictions,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KPI cards, bubble map IDF, prédictions, salaires FT vs Adzuna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0A8"/>
          </a:solidFill>
          <a:ln w="12700">
            <a:solidFill>
              <a:srgbClr val="00B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</a:rPr>
              <a:t xml:space="preserve">RNCP37827BC01  ·  Formation Artefact  ·  Bernard &amp; Claire  ·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Soutenance 29/05/2026</a:t>
            </a:r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</a:rPr>
              <a:t xml:space="preserve">   |   github.com/maninconseil-commits/PPMT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PPMT — Résumé de Projet</dc:title>
  <dc:subject>PptxGenJS Presentation</dc:subject>
  <dc:creator>PptxGenJS</dc:creator>
  <cp:lastModifiedBy>PptxGenJS</cp:lastModifiedBy>
  <cp:revision>1</cp:revision>
  <dcterms:created xsi:type="dcterms:W3CDTF">2026-05-28T15:13:15Z</dcterms:created>
  <dcterms:modified xsi:type="dcterms:W3CDTF">2026-05-28T15:13:15Z</dcterms:modified>
</cp:coreProperties>
</file>